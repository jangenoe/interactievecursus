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 id="325" r:id="rId82"/>
    <p:sldId id="326" r:id="rId83"/>
    <p:sldId id="327" r:id="rId84"/>
    <p:sldId id="328" r:id="rId85"/>
    <p:sldId id="329" r:id="rId86"/>
    <p:sldId id="330" r:id="rId87"/>
    <p:sldId id="331" r:id="rId88"/>
    <p:sldId id="332" r:id="rId89"/>
    <p:sldId id="333" r:id="rId90"/>
    <p:sldId id="334" r:id="rId91"/>
    <p:sldId id="335" r:id="rId92"/>
    <p:sldId id="336" r:id="rId93"/>
    <p:sldId id="337" r:id="rId94"/>
    <p:sldId id="338" r:id="rId95"/>
    <p:sldId id="339" r:id="rId96"/>
    <p:sldId id="340" r:id="rId97"/>
    <p:sldId id="341" r:id="rId98"/>
    <p:sldId id="342" r:id="rId99"/>
    <p:sldId id="343" r:id="rId100"/>
    <p:sldId id="344" r:id="rId101"/>
    <p:sldId id="345" r:id="rId102"/>
    <p:sldId id="346" r:id="rId103"/>
    <p:sldId id="347" r:id="rId104"/>
    <p:sldId id="348" r:id="rId105"/>
    <p:sldId id="349" r:id="rId106"/>
    <p:sldId id="350" r:id="rId10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dit hoofdstuk bespreken we de Klasse B versterker. Deze versterker vereist meer actieve elementen en is dus duurder in ontwerp maar levert een veel hoger rendement op. Hij is dus veel goedkoper in gebruik en vereist veel minder koeling.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ons eerst even de weerstand R_3 wegdenken. Dan is V_3 gelijk aan 0V en dan is V_1 aan $V_{BE}$.</a:t>
            </a:r>
          </a:p>
          <a:p>
            <a:r>
              <a:t>Als we de stroom die in de basis instroomt constant zouden houden, zou de $V_{BE}$ (=V1) dalen met 2 mV per graad Celsius dat de temperatuur stijgt.</a:t>
            </a:r>
          </a:p>
          <a:p>
            <a:r>
              <a:t>In dit geval houden we echter de V_1 constant, waardoor de stroom met 8% gaat stijgen.</a:t>
            </a:r>
          </a:p>
          <a:p>
            <a:r>
              <a:t>We willen tegengaan dat de stroom (veel) gaat stijgen, bv maar 2% in plaats van 8%.</a:t>
            </a:r>
          </a:p>
          <a:p>
            <a:r>
              <a:t>Hoe kunnen we dat bekomen?</a:t>
            </a:r>
          </a:p>
          <a:p>
            <a:r>
              <a:t>Als de temperatuur stijgt, zou normaal de stroom veel stijgen, maar als we tegelijk de $V_{BE}$ kleiner kunnen maken zal de stroom minder dan normaal stijgen.</a:t>
            </a:r>
          </a:p>
          <a:p>
            <a:r>
              <a:t>Hoe kunnen we $V_{BE}$ kleiner maken met stijgende stroom?</a:t>
            </a:r>
          </a:p>
          <a:p>
            <a:r>
              <a:t> Wel $V_{BE}$= V_1-V_3, dus als V_3 groter wordt, wordt $V_{BE}$ kleiner. En we kunnen V_3 groter maken als de stroom stijgt door de stroom door de weerstand te laten lopen.</a:t>
            </a:r>
          </a:p>
          <a:p>
            <a:r>
              <a:t>Dit hebben we uitgewerkt met 2 voorbeelden van R_3:</a:t>
            </a:r>
          </a:p>
          <a:p>
            <a:r>
              <a:t>Een voorbeeld waar de stroomstijging 0.066% per graad Celcius is, in plaats van 8% per graad Celcius.</a:t>
            </a:r>
          </a:p>
          <a:p>
            <a:r>
              <a:t>Een voorbeeld waar de stroomstijging 2% per graad Celcius is, in plaats van 8% per graad Celcius.</a:t>
            </a:r>
          </a:p>
          <a:p>
            <a:r>
              <a:t>Het tweede voorbeeld lijkt minder goed, maar heeft het belangrijk voordeel dat er veel minder spanning verloren wordt.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Stel dat de belasting door een sinus van +40 tot -40 volt moet kunnen aangestuurd worden. We gaan dan een voeding gebruiken van bv 84.8V</a:t>
            </a:r>
          </a:p>
          <a:p>
            <a:r>
              <a:t>Stel dat de belasting met 10A moet kunnen gestuurd worden, dan zullen we bv 10 mA nodig hebben aan de basis van T1, dus staat er over Rs  1 V en moet Rs 100 Ohm zijn.</a:t>
            </a:r>
          </a:p>
          <a:p>
            <a:r>
              <a:t>Maar we komen ook aan -40V  op de uitgang en dan staat er over Rs 42.4V en loopt er door Rs een stroom van 824 mA, dus bijna 1 A. Deze is niet nodig want bij -40V werkt de bovenste transistor niet en al deze stroom loopt door T4.</a:t>
            </a:r>
          </a:p>
          <a:p>
            <a:r>
              <a:t>We kunnen eigenlijk de stroom door de tak van Rs beter constant houden, namelijk de gehele tijd op 10 mA, wat nodig is. Hoe kan dat: door een stroombron. We gebruiken een bipolaire transistor met een vaste stroom aan de basis en daardoor zal de stroom door deze insteltak ook constant 10 mA blijven.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het schema van slide 19 hebben de  weerstanden in de vermogentrap een dubbele functie:</a:t>
            </a:r>
          </a:p>
          <a:p>
            <a:r>
              <a:t>- emitter degeneratie</a:t>
            </a:r>
          </a:p>
          <a:p>
            <a:r>
              <a:t>- spanningsval opbouwen evenredig met de stroom, tot de spanning aan 0.7 volt komt. Vanaf dan neemt de volgende trap over. De stroom door de weerstand neemt nu niet meer verder toe.</a:t>
            </a:r>
          </a:p>
          <a:p/>
          <a:p/>
          <a:p>
            <a:r>
              <a:t>In het schema van slide 23 is de tweede functie naar de collector kant van T2 verschoven.</a:t>
            </a:r>
          </a:p>
          <a:p>
            <a:r>
              <a:t>Maar dan is de emitterdegeneratie niet meer gelijkaardig (symmetrisch) aan beide kanten. Dit lossen we op door de extra diode.</a:t>
            </a:r>
          </a:p>
          <a:p/>
          <a:p>
            <a:r>
              <a:t>In  het schema van slide 24 zijn beide functies volledig gesplitst:</a:t>
            </a:r>
          </a:p>
          <a:p>
            <a:r>
              <a:t>- Een weerstand voor emitterdegeneratie staat aan de emitter kant</a:t>
            </a:r>
          </a:p>
          <a:p>
            <a:r>
              <a:t>- meten van de stroom staat aan de collector kant.</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 het DC vermogen te berekenen, moeten we het product van spanning en stroom uit de voedingen integreren over een periode T en delen door de periode T. We kunnen hierop de volgende vereenvoudigingen toepassen:</a:t>
            </a:r>
          </a:p>
          <a:p>
            <a:r>
              <a:t>Omdat beide voedingen symmetrisch zijn, hoeven we het maar voor een voeding uit te rekenen, en kunnen we het resultaat vermenigvuldigen met 2.</a:t>
            </a:r>
          </a:p>
          <a:p>
            <a:r>
              <a:t>Omdat de stroom gedurende de tweede helft van de periode  is, hoeven we maar te integreren tot T/2.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7.png"/><Relationship Id="rId3" Type="http://schemas.openxmlformats.org/officeDocument/2006/relationships/notesSlide" Target="../notesSlides/notesSlide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2.png"/><Relationship Id="rId3" Type="http://schemas.openxmlformats.org/officeDocument/2006/relationships/notesSlide" Target="../notesSlides/notesSlide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3.png"/><Relationship Id="rId3" Type="http://schemas.openxmlformats.org/officeDocument/2006/relationships/notesSlide" Target="../notesSlides/notesSlide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7.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6.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7.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Klasse B versterkers</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Laagfrequent versterkers</a:t>
            </a:r>
          </a:p>
          <a:p>
            <a:pPr>
              <a:defRPr sz="2400">
                <a:solidFill>
                  <a:srgbClr val="FFFFFF"/>
                </a:solidFill>
              </a:defRPr>
            </a:pPr>
            <a:r>
              <a:t>met 2 vermogentransistor</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Februari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Invoering van symmetrie</a:t>
            </a:r>
          </a:p>
          <a:p>
            <a:pPr lvl="2"/>
            <a:r>
              <a:t>2 transistors die elk de helft van de tijd in geleiding zijn</a:t>
            </a:r>
          </a:p>
          <a:p>
            <a:pPr lvl="2"/>
            <a:r>
              <a:t>DC werkingspunt in een zone van geringe dissipatie</a:t>
            </a:r>
          </a:p>
          <a:p>
            <a:pPr lvl="3"/>
            <a:r>
              <a:t>geen stroom door beide transistors</a:t>
            </a:r>
          </a:p>
          <a:p>
            <a:pPr lvl="1"/>
            <a:r>
              <a:t>Benamingen</a:t>
            </a:r>
          </a:p>
          <a:p>
            <a:pPr lvl="2"/>
            <a:r>
              <a:t>balansschakeling</a:t>
            </a:r>
          </a:p>
          <a:p>
            <a:pPr lvl="2"/>
            <a:r>
              <a:t>push-pull (duw-trek)</a:t>
            </a:r>
          </a:p>
          <a:p>
            <a:pPr lvl="1"/>
            <a:r>
              <a:t>Complexere schema’s in vergelijking met klasse A, maar een hoger rendement</a:t>
            </a:r>
          </a:p>
          <a:p>
            <a:pPr lvl="2"/>
            <a:r>
              <a:t>duurder in fabricatie</a:t>
            </a:r>
          </a:p>
          <a:p>
            <a:pPr lvl="2"/>
            <a:r>
              <a:t>goedkoper in werking</a:t>
            </a:r>
          </a:p>
        </p:txBody>
      </p:sp>
      <p:sp>
        <p:nvSpPr>
          <p:cNvPr id="3" name="Title 2"/>
          <p:cNvSpPr>
            <a:spLocks noGrp="1"/>
          </p:cNvSpPr>
          <p:nvPr>
            <p:ph type="title"/>
          </p:nvPr>
        </p:nvSpPr>
        <p:spPr/>
        <p:txBody>
          <a:bodyPr wrap="square">
            <a:noAutofit/>
          </a:bodyPr>
          <a:lstStyle/>
          <a:p>
            <a:r>
              <a:rPr sz="3200" b="1" i="0">
                <a:latin typeface="Arial"/>
              </a:rPr>
              <a:t>Situering</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Basis schema</a:t>
            </a:r>
            <a:endParaRPr sz="3200" b="1" i="0">
              <a:latin typeface="Arial"/>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a:t>
            </a:r>
            <a:endParaRPr sz="3200" b="1" i="0">
              <a:latin typeface="Arial"/>
            </a:endParaRPr>
          </a:p>
        </p:txBody>
      </p:sp>
      <p:pic>
        <p:nvPicPr>
          <p:cNvPr id="4" name="Picture 3" descr="image.png"/>
          <p:cNvPicPr>
            <a:picLocks noChangeAspect="1"/>
          </p:cNvPicPr>
          <p:nvPr/>
        </p:nvPicPr>
        <p:blipFill>
          <a:blip r:embed="rId2"/>
          <a:stretch>
            <a:fillRect/>
          </a:stretch>
        </p:blipFill>
        <p:spPr>
          <a:xfrm>
            <a:off x="4203250" y="539496"/>
            <a:ext cx="3028400" cy="4535424"/>
          </a:xfrm>
          <a:prstGeom prst="rect">
            <a:avLst/>
          </a:prstGeom>
        </p:spPr>
      </p:pic>
      <p:sp>
        <p:nvSpPr>
          <p:cNvPr id="2" name="Content Placeholder 1"/>
          <p:cNvSpPr>
            <a:spLocks noGrp="1"/>
          </p:cNvSpPr>
          <p:nvPr>
            <p:ph idx="1"/>
          </p:nvPr>
        </p:nvSpPr>
        <p:spPr>
          <a:xfrm>
            <a:off x="914400" y="5166360"/>
            <a:ext cx="10820400" cy="5669280"/>
          </a:xfrm>
        </p:spPr>
        <p:txBody>
          <a:bodyPr>
            <a:spAutoFit/>
          </a:bodyPr>
          <a:lstStyle/>
          <a:p>
            <a:pPr lvl="1"/>
            <a:r>
              <a:t>NPN en PNP type transistor zijn beide de helft van de tijd in geleiding (bij sinusvormige sturing)</a:t>
            </a:r>
          </a:p>
          <a:p>
            <a:pPr lvl="1"/>
            <a:r>
              <a:t>Ook voor DC toepassingen bruikbaar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Pull-up en Pull Down</a:t>
            </a:r>
            <a:endParaRPr sz="3200" b="1" i="0">
              <a:latin typeface="Arial"/>
            </a:endParaRPr>
          </a:p>
        </p:txBody>
      </p:sp>
      <p:pic>
        <p:nvPicPr>
          <p:cNvPr id="4" name="Picture 3" descr="image.png"/>
          <p:cNvPicPr>
            <a:picLocks noChangeAspect="1"/>
          </p:cNvPicPr>
          <p:nvPr/>
        </p:nvPicPr>
        <p:blipFill>
          <a:blip r:embed="rId2"/>
          <a:stretch>
            <a:fillRect/>
          </a:stretch>
        </p:blipFill>
        <p:spPr>
          <a:xfrm>
            <a:off x="3736790" y="539496"/>
            <a:ext cx="4718420"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Benoeming knopen</a:t>
            </a:r>
            <a:endParaRPr sz="3200" b="1" i="0">
              <a:latin typeface="Arial"/>
            </a:endParaRPr>
          </a:p>
        </p:txBody>
      </p:sp>
      <p:pic>
        <p:nvPicPr>
          <p:cNvPr id="4" name="Picture 3" descr="image.png"/>
          <p:cNvPicPr>
            <a:picLocks noChangeAspect="1"/>
          </p:cNvPicPr>
          <p:nvPr/>
        </p:nvPicPr>
        <p:blipFill>
          <a:blip r:embed="rId2"/>
          <a:stretch>
            <a:fillRect/>
          </a:stretch>
        </p:blipFill>
        <p:spPr>
          <a:xfrm>
            <a:off x="2968752" y="539496"/>
            <a:ext cx="6254496" cy="5669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Klasse B versterker</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SUPPLY VOLTAGES</a:t>
            </a:r>
            <a:endParaRPr sz="2400" b="0" i="0">
              <a:latin typeface="Courier"/>
            </a:endParaRPr>
          </a:p>
          <a:p>
            <a:pPr>
              <a:lnSpc>
                <a:spcPts val="2400"/>
              </a:lnSpc>
              <a:defRPr>
                <a:solidFill>
                  <a:srgbClr val="FFFFFF"/>
                </a:solidFill>
              </a:defRPr>
            </a:pPr>
            <a:r>
              <a:rPr sz="2400" b="0" i="0">
                <a:latin typeface="Courier"/>
              </a:rPr>
              <a:t>VPOS 8 0 DC	+15V</a:t>
            </a:r>
            <a:endParaRPr sz="2400" b="0" i="0">
              <a:latin typeface="Courier"/>
            </a:endParaRPr>
          </a:p>
          <a:p>
            <a:pPr>
              <a:lnSpc>
                <a:spcPts val="2400"/>
              </a:lnSpc>
              <a:defRPr>
                <a:solidFill>
                  <a:srgbClr val="FFFFFF"/>
                </a:solidFill>
              </a:defRPr>
            </a:pPr>
            <a:r>
              <a:rPr sz="2400" b="0" i="0">
                <a:latin typeface="Courier"/>
              </a:rPr>
              <a:t>VNEG 9 0 DC	-15V</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input source</a:t>
            </a:r>
            <a:endParaRPr sz="2400" b="0" i="0">
              <a:latin typeface="Courier"/>
            </a:endParaRPr>
          </a:p>
          <a:p>
            <a:pPr>
              <a:lnSpc>
                <a:spcPts val="2400"/>
              </a:lnSpc>
              <a:defRPr>
                <a:solidFill>
                  <a:srgbClr val="FFFFFF"/>
                </a:solidFill>
              </a:defRPr>
            </a:pPr>
            <a:r>
              <a:rPr sz="2400" b="0" i="0">
                <a:latin typeface="Courier"/>
              </a:rPr>
              <a:t>VS1 1 0	DC 0 SIN(0V 5VPEAK 10KHZ)</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8 1 2 QNPN</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Q2 9 1 2 QPNP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Load resistance</a:t>
            </a:r>
            <a:endParaRPr sz="2400" b="0" i="0">
              <a:latin typeface="Courier"/>
            </a:endParaRPr>
          </a:p>
          <a:p>
            <a:pPr>
              <a:lnSpc>
                <a:spcPts val="2400"/>
              </a:lnSpc>
              <a:defRPr>
                <a:solidFill>
                  <a:srgbClr val="FFFFFF"/>
                </a:solidFill>
              </a:defRPr>
            </a:pPr>
            <a:r>
              <a:rPr sz="2400" b="0" i="0">
                <a:latin typeface="Courier"/>
              </a:rPr>
              <a:t>RL1 2 0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Verloop van Stroom en 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14084" y="539496"/>
            <a:ext cx="7163832" cy="5669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Detail stroom en spanning rond nuldoorgang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2480686" y="539496"/>
            <a:ext cx="7230628" cy="56692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 door en spanning over</a:t>
            </a:r>
            <a:endParaRPr sz="3200" b="1" i="0">
              <a:latin typeface="Arial"/>
            </a:endParaRPr>
          </a:p>
        </p:txBody>
      </p:sp>
      <p:pic>
        <p:nvPicPr>
          <p:cNvPr id="4" name="Picture 3" descr="image.png"/>
          <p:cNvPicPr>
            <a:picLocks noChangeAspect="1"/>
          </p:cNvPicPr>
          <p:nvPr/>
        </p:nvPicPr>
        <p:blipFill>
          <a:blip r:embed="rId2"/>
          <a:stretch>
            <a:fillRect/>
          </a:stretch>
        </p:blipFill>
        <p:spPr>
          <a:xfrm>
            <a:off x="2580879" y="539496"/>
            <a:ext cx="7030241" cy="56692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 schema</a:t>
            </a:r>
            <a:endParaRPr sz="3200" b="1" i="0">
              <a:latin typeface="Arial"/>
            </a:endParaRPr>
          </a:p>
        </p:txBody>
      </p:sp>
      <p:pic>
        <p:nvPicPr>
          <p:cNvPr id="4" name="Picture 3" descr="image.png"/>
          <p:cNvPicPr>
            <a:picLocks noChangeAspect="1"/>
          </p:cNvPicPr>
          <p:nvPr/>
        </p:nvPicPr>
        <p:blipFill>
          <a:blip r:embed="rId2"/>
          <a:stretch>
            <a:fillRect/>
          </a:stretch>
        </p:blipFill>
        <p:spPr>
          <a:xfrm>
            <a:off x="1961397" y="539496"/>
            <a:ext cx="5540367" cy="3798417"/>
          </a:xfrm>
          <a:prstGeom prst="rect">
            <a:avLst/>
          </a:prstGeom>
        </p:spPr>
      </p:pic>
      <p:sp>
        <p:nvSpPr>
          <p:cNvPr id="2" name="Content Placeholder 1"/>
          <p:cNvSpPr>
            <a:spLocks noGrp="1"/>
          </p:cNvSpPr>
          <p:nvPr>
            <p:ph idx="1"/>
          </p:nvPr>
        </p:nvSpPr>
        <p:spPr>
          <a:xfrm>
            <a:off x="914400" y="4429353"/>
            <a:ext cx="10820400" cy="5669280"/>
          </a:xfrm>
        </p:spPr>
        <p:txBody>
          <a:bodyPr>
            <a:spAutoFit/>
          </a:bodyPr>
          <a:lstStyle/>
          <a:p>
            <a:pPr lvl="1"/>
            <a:r>
              <a:t>Geen  aftakkingen op de voeding nodig</a:t>
            </a:r>
          </a:p>
          <a:p>
            <a:pPr lvl="2"/>
            <a:r>
              <a:t>Goedkopere voeding</a:t>
            </a:r>
          </a:p>
          <a:p>
            <a:pPr lvl="1"/>
            <a:r>
              <a:t>Geen gevaar voor drift</a:t>
            </a:r>
          </a:p>
          <a:p>
            <a:pPr lvl="2"/>
            <a:r>
              <a:t>In de DC versie geeft drift van het instelpunt belangrijke DC stromen door de belasting.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Transistor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923477" y="539496"/>
            <a:ext cx="5841532" cy="3968495"/>
          </a:xfrm>
          <a:prstGeom prst="rect">
            <a:avLst/>
          </a:prstGeom>
        </p:spPr>
      </p:pic>
      <p:sp>
        <p:nvSpPr>
          <p:cNvPr id="2" name="Content Placeholder 1"/>
          <p:cNvSpPr>
            <a:spLocks noGrp="1"/>
          </p:cNvSpPr>
          <p:nvPr>
            <p:ph idx="1"/>
          </p:nvPr>
        </p:nvSpPr>
        <p:spPr>
          <a:xfrm>
            <a:off x="914400" y="4599431"/>
            <a:ext cx="10820400" cy="5669280"/>
          </a:xfrm>
        </p:spPr>
        <p:txBody>
          <a:bodyPr>
            <a:spAutoFit/>
          </a:bodyPr>
          <a:lstStyle/>
          <a:p>
            <a:pPr lvl="1"/>
            <a:r>
              <a:t>Basissen worden gezamenlijk gestuurd met dezelfde spanning</a:t>
            </a:r>
          </a:p>
          <a:p>
            <a:pPr lvl="1"/>
            <a:r>
              <a:t>Beide transistors zijn emitter volgers</a:t>
            </a:r>
          </a:p>
          <a:p>
            <a:pPr lvl="2"/>
            <a:r>
              <a:t>spanningsversterking = 1</a:t>
            </a:r>
          </a:p>
          <a:p>
            <a:pPr lvl="2"/>
            <a:r>
              <a:t>stroomversterking </a:t>
            </a:r>
            <a:r>
              <a:t>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Cross-over en distorsie</a:t>
            </a:r>
            <a:endParaRPr sz="3200" b="1" i="0">
              <a:latin typeface="Arial"/>
            </a:endParaRPr>
          </a:p>
        </p:txBody>
      </p:sp>
      <p:pic>
        <p:nvPicPr>
          <p:cNvPr id="4" name="Picture 3" descr="image.png"/>
          <p:cNvPicPr>
            <a:picLocks noChangeAspect="1"/>
          </p:cNvPicPr>
          <p:nvPr/>
        </p:nvPicPr>
        <p:blipFill>
          <a:blip r:embed="rId2"/>
          <a:stretch>
            <a:fillRect/>
          </a:stretch>
        </p:blipFill>
        <p:spPr>
          <a:xfrm>
            <a:off x="1151622" y="539496"/>
            <a:ext cx="9888756"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Gebruik van de voorinstelspanning</a:t>
            </a:r>
            <a:endParaRPr sz="3200" b="1" i="0">
              <a:latin typeface="Arial"/>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Voorinstelspanning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857123" y="539496"/>
            <a:ext cx="8477754"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Spanningsdeler als instelspanning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216511" y="539496"/>
            <a:ext cx="9758977" cy="56692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Diodes als instelelement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292953" y="539496"/>
            <a:ext cx="9606093" cy="56692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Diodes als instelelement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148417" y="539496"/>
            <a:ext cx="9895165" cy="56692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Voorinstelspanning met 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2875149" y="539496"/>
            <a:ext cx="6441701" cy="56692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Klasse B versterker</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SUPPLY VOLTAGES</a:t>
            </a:r>
            <a:endParaRPr sz="2400" b="0" i="0">
              <a:latin typeface="Courier"/>
            </a:endParaRPr>
          </a:p>
          <a:p>
            <a:pPr>
              <a:lnSpc>
                <a:spcPts val="2400"/>
              </a:lnSpc>
              <a:defRPr>
                <a:solidFill>
                  <a:srgbClr val="FFFFFF"/>
                </a:solidFill>
              </a:defRPr>
            </a:pPr>
            <a:r>
              <a:rPr sz="2400" b="0" i="0">
                <a:latin typeface="Courier"/>
              </a:rPr>
              <a:t>VPOS 8 0 DC +15V</a:t>
            </a:r>
            <a:endParaRPr sz="2400" b="0" i="0">
              <a:latin typeface="Courier"/>
            </a:endParaRPr>
          </a:p>
          <a:p>
            <a:pPr>
              <a:lnSpc>
                <a:spcPts val="2400"/>
              </a:lnSpc>
              <a:defRPr>
                <a:solidFill>
                  <a:srgbClr val="FFFFFF"/>
                </a:solidFill>
              </a:defRPr>
            </a:pPr>
            <a:r>
              <a:rPr sz="2400" b="0" i="0">
                <a:latin typeface="Courier"/>
              </a:rPr>
              <a:t>VNEG 9 0 DC -15V</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VS2 10 0 DC 0 SIN(0V 5VPEAK 10KHZ)</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D1  13 10   DNOM</a:t>
            </a:r>
            <a:endParaRPr sz="2400" b="0" i="0">
              <a:latin typeface="Courier"/>
            </a:endParaRPr>
          </a:p>
          <a:p>
            <a:pPr>
              <a:lnSpc>
                <a:spcPts val="2400"/>
              </a:lnSpc>
              <a:defRPr>
                <a:solidFill>
                  <a:srgbClr val="FFFFFF"/>
                </a:solidFill>
              </a:defRPr>
            </a:pPr>
            <a:r>
              <a:rPr sz="2400" b="0" i="0">
                <a:latin typeface="Courier"/>
              </a:rPr>
              <a:t>RB1 13 8    10K</a:t>
            </a:r>
            <a:endParaRPr sz="2400" b="0" i="0">
              <a:latin typeface="Courier"/>
            </a:endParaRPr>
          </a:p>
          <a:p>
            <a:pPr>
              <a:lnSpc>
                <a:spcPts val="2400"/>
              </a:lnSpc>
              <a:defRPr>
                <a:solidFill>
                  <a:srgbClr val="FFFFFF"/>
                </a:solidFill>
              </a:defRPr>
            </a:pPr>
            <a:r>
              <a:rPr sz="2400" b="0" i="0">
                <a:latin typeface="Courier"/>
              </a:rPr>
              <a:t>Q11 8 13 12 QNPN</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voorinstelspanning met diodes</a:t>
            </a:r>
            <a:endParaRPr sz="3200" b="1" i="0">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D2  10 14   DNOM</a:t>
            </a:r>
            <a:endParaRPr sz="2400" b="0" i="0">
              <a:latin typeface="Courier"/>
            </a:endParaRPr>
          </a:p>
          <a:p>
            <a:pPr>
              <a:lnSpc>
                <a:spcPts val="2400"/>
              </a:lnSpc>
              <a:defRPr>
                <a:solidFill>
                  <a:srgbClr val="FFFFFF"/>
                </a:solidFill>
              </a:defRPr>
            </a:pPr>
            <a:r>
              <a:rPr sz="2400" b="0" i="0">
                <a:latin typeface="Courier"/>
              </a:rPr>
              <a:t>RB2 14 9    10K</a:t>
            </a:r>
            <a:endParaRPr sz="2400" b="0" i="0">
              <a:latin typeface="Courier"/>
            </a:endParaRPr>
          </a:p>
          <a:p>
            <a:pPr>
              <a:lnSpc>
                <a:spcPts val="2400"/>
              </a:lnSpc>
              <a:defRPr>
                <a:solidFill>
                  <a:srgbClr val="FFFFFF"/>
                </a:solidFill>
              </a:defRPr>
            </a:pPr>
            <a:r>
              <a:rPr sz="2400" b="0" i="0">
                <a:latin typeface="Courier"/>
              </a:rPr>
              <a:t>Q12 9 14 12 QPNP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RL2 12 0 100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a:p>
            <a:pPr>
              <a:lnSpc>
                <a:spcPts val="2400"/>
              </a:lnSpc>
              <a:defRPr>
                <a:solidFill>
                  <a:srgbClr val="FFFFFF"/>
                </a:solidFill>
              </a:defRPr>
            </a:pPr>
            <a:r>
              <a:rPr sz="2400" b="0" i="0">
                <a:latin typeface="Courier"/>
              </a:rPr>
              <a:t>.model DNOM D()</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voorinstelspanning met diodes</a:t>
            </a:r>
            <a:endParaRPr sz="3200" b="1" i="0">
              <a:latin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Stromen en spanning (met voorinstelspanning)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14084" y="539496"/>
            <a:ext cx="7163832" cy="5669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100" b="1" i="0">
                <a:latin typeface="Arial"/>
              </a:rPr>
              <a:t>Stroom door en spanning over (met voorinstelspanning)</a:t>
            </a:r>
            <a:endParaRPr sz="3100" b="1" i="0">
              <a:latin typeface="Arial"/>
            </a:endParaRPr>
          </a:p>
        </p:txBody>
      </p:sp>
      <p:pic>
        <p:nvPicPr>
          <p:cNvPr id="4" name="Picture 3" descr="image.png"/>
          <p:cNvPicPr>
            <a:picLocks noChangeAspect="1"/>
          </p:cNvPicPr>
          <p:nvPr/>
        </p:nvPicPr>
        <p:blipFill>
          <a:blip r:embed="rId2"/>
          <a:stretch>
            <a:fillRect/>
          </a:stretch>
        </p:blipFill>
        <p:spPr>
          <a:xfrm>
            <a:off x="2580879" y="539496"/>
            <a:ext cx="7030241" cy="56692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Voorinstelspanning met transistor</a:t>
            </a:r>
            <a:endParaRPr sz="3200" b="1" i="0">
              <a:latin typeface="Arial"/>
            </a:endParaRPr>
          </a:p>
        </p:txBody>
      </p:sp>
      <p:pic>
        <p:nvPicPr>
          <p:cNvPr id="4" name="Picture 3" descr="image.png"/>
          <p:cNvPicPr>
            <a:picLocks noChangeAspect="1"/>
          </p:cNvPicPr>
          <p:nvPr/>
        </p:nvPicPr>
        <p:blipFill>
          <a:blip r:embed="rId2"/>
          <a:stretch>
            <a:fillRect/>
          </a:stretch>
        </p:blipFill>
        <p:spPr>
          <a:xfrm>
            <a:off x="2181497" y="539496"/>
            <a:ext cx="7829006" cy="56692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Hulptransistor als instelelement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920314" y="539496"/>
            <a:ext cx="10351372" cy="56692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De voorspanning mag nooit te groot worden.</a:t>
            </a:r>
          </a:p>
          <a:p>
            <a:pPr lvl="2"/>
            <a:r>
              <a:t>Een te grote voorspanning brengt beide transistors gelijktijdig in geleiding, zodat de voeding kortgesloten wordt.</a:t>
            </a:r>
          </a:p>
          <a:p>
            <a:pPr lvl="1"/>
            <a:r>
              <a:t>De voorspanning mag kleiner worden maar als het signaal door 0 gaat moet ze de ingestelde waarde hebben</a:t>
            </a:r>
          </a:p>
          <a:p>
            <a:pPr lvl="1"/>
            <a:r>
              <a:t>Het optimale gedrag voor de voorspanning is dus een spanningsbron met een lage impedantie</a:t>
            </a:r>
          </a:p>
        </p:txBody>
      </p:sp>
      <p:sp>
        <p:nvSpPr>
          <p:cNvPr id="3" name="Title 2"/>
          <p:cNvSpPr>
            <a:spLocks noGrp="1"/>
          </p:cNvSpPr>
          <p:nvPr>
            <p:ph type="title"/>
          </p:nvPr>
        </p:nvSpPr>
        <p:spPr/>
        <p:txBody>
          <a:bodyPr wrap="square">
            <a:noAutofit/>
          </a:bodyPr>
          <a:lstStyle/>
          <a:p>
            <a:r>
              <a:rPr sz="3200" b="1" i="0">
                <a:latin typeface="Arial"/>
              </a:rPr>
              <a:t>Eisen voor de voorspanning</a:t>
            </a:r>
            <a:endParaRPr sz="3200" b="1" i="0">
              <a:latin typeface="Arial"/>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Principe van 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453408" y="539496"/>
            <a:ext cx="11285184" cy="56692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1027587" y="539496"/>
            <a:ext cx="10136825" cy="56692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745754" y="539496"/>
            <a:ext cx="10700491" cy="566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Overbruggingsdiodes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1011756" y="539496"/>
            <a:ext cx="10168487" cy="56692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Overbruggingsdiodes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1017772" y="539496"/>
            <a:ext cx="10156455" cy="56692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Luie zone</a:t>
            </a:r>
            <a:endParaRPr sz="3200" b="1" i="0">
              <a:latin typeface="Arial"/>
            </a:endParaRPr>
          </a:p>
        </p:txBody>
      </p:sp>
      <p:pic>
        <p:nvPicPr>
          <p:cNvPr id="4" name="Picture 3" descr="image.png"/>
          <p:cNvPicPr>
            <a:picLocks noChangeAspect="1"/>
          </p:cNvPicPr>
          <p:nvPr/>
        </p:nvPicPr>
        <p:blipFill>
          <a:blip r:embed="rId2"/>
          <a:stretch>
            <a:fillRect/>
          </a:stretch>
        </p:blipFill>
        <p:spPr>
          <a:xfrm>
            <a:off x="1269988" y="539496"/>
            <a:ext cx="9652024" cy="56692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Actieve diodes =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1150959" y="539496"/>
            <a:ext cx="9890081" cy="56692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Actieve diodes =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1079672" y="539496"/>
            <a:ext cx="10032656" cy="566928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Driver stage</a:t>
            </a:r>
            <a:endParaRPr sz="3200" b="1" i="0">
              <a:latin typeface="Arial"/>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Stuurtrap (driver)</a:t>
            </a:r>
            <a:endParaRPr sz="3200" b="1" i="0">
              <a:latin typeface="Arial"/>
            </a:endParaRPr>
          </a:p>
        </p:txBody>
      </p:sp>
      <p:pic>
        <p:nvPicPr>
          <p:cNvPr id="4" name="Picture 3" descr="image.png"/>
          <p:cNvPicPr>
            <a:picLocks noChangeAspect="1"/>
          </p:cNvPicPr>
          <p:nvPr/>
        </p:nvPicPr>
        <p:blipFill>
          <a:blip r:embed="rId2"/>
          <a:stretch>
            <a:fillRect/>
          </a:stretch>
        </p:blipFill>
        <p:spPr>
          <a:xfrm>
            <a:off x="1252470" y="539496"/>
            <a:ext cx="9687060" cy="56692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Driver Stage</a:t>
            </a:r>
            <a:endParaRPr sz="3200" b="1" i="0">
              <a:latin typeface="Arial"/>
            </a:endParaRPr>
          </a:p>
        </p:txBody>
      </p:sp>
      <p:pic>
        <p:nvPicPr>
          <p:cNvPr id="4" name="Picture 3" descr="image.png"/>
          <p:cNvPicPr>
            <a:picLocks noChangeAspect="1"/>
          </p:cNvPicPr>
          <p:nvPr/>
        </p:nvPicPr>
        <p:blipFill>
          <a:blip r:embed="rId2"/>
          <a:stretch>
            <a:fillRect/>
          </a:stretch>
        </p:blipFill>
        <p:spPr>
          <a:xfrm>
            <a:off x="2800911" y="539496"/>
            <a:ext cx="6590178" cy="56692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Stroombron als belasting voor de driver</a:t>
            </a:r>
            <a:endParaRPr sz="3200" b="1" i="0">
              <a:latin typeface="Arial"/>
            </a:endParaRPr>
          </a:p>
        </p:txBody>
      </p:sp>
      <p:pic>
        <p:nvPicPr>
          <p:cNvPr id="4" name="Picture 3" descr="image.png"/>
          <p:cNvPicPr>
            <a:picLocks noChangeAspect="1"/>
          </p:cNvPicPr>
          <p:nvPr/>
        </p:nvPicPr>
        <p:blipFill>
          <a:blip r:embed="rId2"/>
          <a:stretch>
            <a:fillRect/>
          </a:stretch>
        </p:blipFill>
        <p:spPr>
          <a:xfrm>
            <a:off x="1256935" y="539496"/>
            <a:ext cx="9678129" cy="56692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Stroombron als belasting driver trap</a:t>
            </a:r>
            <a:endParaRPr sz="3200" b="1" i="0">
              <a:latin typeface="Arial"/>
            </a:endParaRPr>
          </a:p>
        </p:txBody>
      </p:sp>
      <p:pic>
        <p:nvPicPr>
          <p:cNvPr id="4" name="Picture 3" descr="image.png"/>
          <p:cNvPicPr>
            <a:picLocks noChangeAspect="1"/>
          </p:cNvPicPr>
          <p:nvPr/>
        </p:nvPicPr>
        <p:blipFill>
          <a:blip r:embed="rId2"/>
          <a:stretch>
            <a:fillRect/>
          </a:stretch>
        </p:blipFill>
        <p:spPr>
          <a:xfrm>
            <a:off x="2886349" y="539496"/>
            <a:ext cx="6419301" cy="566928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Verhoging van het afgeleverde vermogen</a:t>
            </a:r>
            <a:endParaRPr sz="3200" b="1" i="0">
              <a:latin typeface="Arial"/>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4134824" y="539496"/>
            <a:ext cx="3922351" cy="56692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Darlington</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3 1 2 QNPN</a:t>
            </a:r>
            <a:endParaRPr sz="2400" b="0" i="0">
              <a:latin typeface="Courier"/>
            </a:endParaRPr>
          </a:p>
          <a:p>
            <a:pPr>
              <a:lnSpc>
                <a:spcPts val="2400"/>
              </a:lnSpc>
              <a:defRPr>
                <a:solidFill>
                  <a:srgbClr val="FFFFFF"/>
                </a:solidFill>
              </a:defRPr>
            </a:pPr>
            <a:r>
              <a:rPr sz="2400" b="0" i="0">
                <a:latin typeface="Courier"/>
              </a:rPr>
              <a:t>Q2 3 2 0 QNPN</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Transfer characteristiek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2564180" y="539496"/>
            <a:ext cx="7063639" cy="566928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 met 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4746171" y="539496"/>
            <a:ext cx="2699657" cy="56692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Darlington met emitter degeneratie</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3 1 2 QNPN</a:t>
            </a:r>
            <a:endParaRPr sz="2400" b="0" i="0">
              <a:latin typeface="Courier"/>
            </a:endParaRPr>
          </a:p>
          <a:p>
            <a:pPr>
              <a:lnSpc>
                <a:spcPts val="2400"/>
              </a:lnSpc>
              <a:defRPr>
                <a:solidFill>
                  <a:srgbClr val="FFFFFF"/>
                </a:solidFill>
              </a:defRPr>
            </a:pPr>
            <a:r>
              <a:rPr sz="2400" b="0" i="0">
                <a:latin typeface="Courier"/>
              </a:rPr>
              <a:t>Q2 3 2 0 QNPN</a:t>
            </a:r>
            <a:endParaRPr sz="2400" b="0" i="0">
              <a:latin typeface="Courier"/>
            </a:endParaRPr>
          </a:p>
          <a:p>
            <a:pPr>
              <a:lnSpc>
                <a:spcPts val="2400"/>
              </a:lnSpc>
              <a:defRPr>
                <a:solidFill>
                  <a:srgbClr val="FFFFFF"/>
                </a:solidFill>
              </a:defRPr>
            </a:pPr>
            <a:r>
              <a:rPr sz="2400" b="0" i="0">
                <a:latin typeface="Courier"/>
              </a:rPr>
              <a:t>RED 2 0 100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Transfer characteristiek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2526608" y="539496"/>
            <a:ext cx="7138784" cy="566928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 als drive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2720140" y="539496"/>
            <a:ext cx="6751720" cy="566928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 als drive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3797148" y="539496"/>
            <a:ext cx="4597704" cy="566928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Complementair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3987736" y="539496"/>
            <a:ext cx="4216527" cy="566928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Complementaire Darlington met emitter degeneratie</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2 1 0 QNPN</a:t>
            </a:r>
            <a:endParaRPr sz="2400" b="0" i="0">
              <a:latin typeface="Courier"/>
            </a:endParaRPr>
          </a:p>
          <a:p>
            <a:pPr>
              <a:lnSpc>
                <a:spcPts val="2400"/>
              </a:lnSpc>
              <a:defRPr>
                <a:solidFill>
                  <a:srgbClr val="FFFFFF"/>
                </a:solidFill>
              </a:defRPr>
            </a:pPr>
            <a:r>
              <a:rPr sz="2400" b="0" i="0">
                <a:latin typeface="Courier"/>
              </a:rPr>
              <a:t>Q2 0 2 3 QPNP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complementair Darlington paar</a:t>
            </a:r>
            <a:endParaRPr sz="3200" b="1" i="0">
              <a:latin typeface="Arial"/>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Transfer characteristiek complementair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2564180" y="539496"/>
            <a:ext cx="7063639" cy="566928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Complementair Darlington paar met 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5115721" y="539496"/>
            <a:ext cx="1960558" cy="566928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Complementaire Darlington met emitter degeneratie</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2 1 4 QNPN</a:t>
            </a:r>
            <a:endParaRPr sz="2400" b="0" i="0">
              <a:latin typeface="Courier"/>
            </a:endParaRPr>
          </a:p>
          <a:p>
            <a:pPr>
              <a:lnSpc>
                <a:spcPts val="2400"/>
              </a:lnSpc>
              <a:defRPr>
                <a:solidFill>
                  <a:srgbClr val="FFFFFF"/>
                </a:solidFill>
              </a:defRPr>
            </a:pPr>
            <a:r>
              <a:rPr sz="2400" b="0" i="0">
                <a:latin typeface="Courier"/>
              </a:rPr>
              <a:t>Q2 0 2 3 QPNP</a:t>
            </a:r>
            <a:endParaRPr sz="2400" b="0" i="0">
              <a:latin typeface="Courier"/>
            </a:endParaRPr>
          </a:p>
          <a:p>
            <a:pPr>
              <a:lnSpc>
                <a:spcPts val="2400"/>
              </a:lnSpc>
              <a:defRPr>
                <a:solidFill>
                  <a:srgbClr val="FFFFFF"/>
                </a:solidFill>
              </a:defRPr>
            </a:pPr>
            <a:r>
              <a:rPr sz="2400" b="0" i="0">
                <a:latin typeface="Courier"/>
              </a:rPr>
              <a:t>RED 4 0 100</a:t>
            </a:r>
            <a:endParaRPr sz="2400" b="0" i="0">
              <a:latin typeface="Courier"/>
            </a:endParaRPr>
          </a:p>
          <a:p>
            <a:pPr>
              <a:lnSpc>
                <a:spcPts val="2400"/>
              </a:lnSpc>
              <a:defRPr>
                <a:solidFill>
                  <a:srgbClr val="FFFFFF"/>
                </a:solidFill>
              </a:defRPr>
            </a:pPr>
            <a:r>
              <a:rPr sz="2400" b="0" i="0">
                <a:latin typeface="Courier"/>
              </a:rPr>
              <a:t>R2 2 3 100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2600" b="1" i="0">
                <a:latin typeface="Arial"/>
              </a:rPr>
              <a:t>SPICE code complementair Darlington paar met emitter degeneratie</a:t>
            </a:r>
            <a:endParaRPr sz="2600" b="1" i="0">
              <a:latin typeface="Arial"/>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200" b="1" i="0">
                <a:latin typeface="Arial"/>
              </a:rPr>
              <a:t>Transfer characteristiek complementair Darlington paar met emitter degeneratie</a:t>
            </a:r>
            <a:endParaRPr sz="2200" b="1" i="0">
              <a:latin typeface="Arial"/>
            </a:endParaRPr>
          </a:p>
        </p:txBody>
      </p:sp>
      <p:pic>
        <p:nvPicPr>
          <p:cNvPr id="4" name="Picture 3" descr="image.png"/>
          <p:cNvPicPr>
            <a:picLocks noChangeAspect="1"/>
          </p:cNvPicPr>
          <p:nvPr/>
        </p:nvPicPr>
        <p:blipFill>
          <a:blip r:embed="rId2"/>
          <a:stretch>
            <a:fillRect/>
          </a:stretch>
        </p:blipFill>
        <p:spPr>
          <a:xfrm>
            <a:off x="2526608" y="539496"/>
            <a:ext cx="7138784" cy="566928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PNP vermogentransistors zijn</a:t>
            </a:r>
          </a:p>
          <a:p>
            <a:pPr lvl="1"/>
            <a:r>
              <a:t>minder goed,</a:t>
            </a:r>
          </a:p>
          <a:p>
            <a:pPr lvl="1"/>
            <a:r>
              <a:t>minder robust,</a:t>
            </a:r>
          </a:p>
          <a:p>
            <a:pPr lvl="1"/>
            <a:r>
              <a:t>minder betrouwbaar,</a:t>
            </a:r>
          </a:p>
          <a:p>
            <a:pPr lvl="1"/>
            <a:r>
              <a:t>of duurder</a:t>
            </a:r>
          </a:p>
          <a:p>
            <a:pPr/>
            <a:r>
              <a:t>  </a:t>
            </a:r>
          </a:p>
          <a:p>
            <a:pPr/>
            <a:r>
              <a:t>dan de vergelijkbare NPN component.</a:t>
            </a:r>
          </a:p>
          <a:p>
            <a:pPr/>
          </a:p>
          <a:p>
            <a:pPr lvl="1"/>
            <a:r>
              <a:t>We vervangen de grootste PNP transistors door NPN transistors.</a:t>
            </a:r>
          </a:p>
          <a:p>
            <a:pPr lvl="1"/>
            <a:r>
              <a:t>T’2 verhuist daardoor van plaats en we moeten de diode terug invoeren.</a:t>
            </a:r>
          </a:p>
          <a:p>
            <a:pPr lvl="1"/>
            <a:r>
              <a:t>We zijn een belangrijk deel van de symmetrie terug kwijt.</a:t>
            </a:r>
          </a:p>
        </p:txBody>
      </p:sp>
      <p:sp>
        <p:nvSpPr>
          <p:cNvPr id="3" name="Title 2"/>
          <p:cNvSpPr>
            <a:spLocks noGrp="1"/>
          </p:cNvSpPr>
          <p:nvPr>
            <p:ph type="title"/>
          </p:nvPr>
        </p:nvSpPr>
        <p:spPr/>
        <p:txBody>
          <a:bodyPr wrap="square">
            <a:noAutofit/>
          </a:bodyPr>
          <a:lstStyle/>
          <a:p>
            <a:r>
              <a:rPr sz="3200" b="1" i="0">
                <a:latin typeface="Arial"/>
              </a:rPr>
              <a:t>PNP vermogentransistors</a:t>
            </a:r>
            <a:endParaRPr sz="3200" b="1" i="0">
              <a:latin typeface="Arial"/>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Schema met NPN eindtrap</a:t>
            </a:r>
            <a:endParaRPr sz="3200" b="1" i="0">
              <a:latin typeface="Arial"/>
            </a:endParaRPr>
          </a:p>
        </p:txBody>
      </p:sp>
      <p:pic>
        <p:nvPicPr>
          <p:cNvPr id="4" name="Picture 3" descr="image.png"/>
          <p:cNvPicPr>
            <a:picLocks noChangeAspect="1"/>
          </p:cNvPicPr>
          <p:nvPr/>
        </p:nvPicPr>
        <p:blipFill>
          <a:blip r:embed="rId2"/>
          <a:stretch>
            <a:fillRect/>
          </a:stretch>
        </p:blipFill>
        <p:spPr>
          <a:xfrm>
            <a:off x="1185428" y="539496"/>
            <a:ext cx="9821144" cy="56692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Bijkomende trap met invoering symmetrie</a:t>
            </a:r>
            <a:endParaRPr sz="3200" b="1" i="0">
              <a:latin typeface="Arial"/>
            </a:endParaRPr>
          </a:p>
        </p:txBody>
      </p:sp>
      <p:pic>
        <p:nvPicPr>
          <p:cNvPr id="4" name="Picture 3" descr="image.png"/>
          <p:cNvPicPr>
            <a:picLocks noChangeAspect="1"/>
          </p:cNvPicPr>
          <p:nvPr/>
        </p:nvPicPr>
        <p:blipFill>
          <a:blip r:embed="rId2"/>
          <a:stretch>
            <a:fillRect/>
          </a:stretch>
        </p:blipFill>
        <p:spPr>
          <a:xfrm>
            <a:off x="1367290" y="539496"/>
            <a:ext cx="9457419" cy="566928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Dissipatie en 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207440" y="539496"/>
            <a:ext cx="9777120" cy="566928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Vergelijking 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286967" y="539496"/>
            <a:ext cx="9618065" cy="56692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De dissipatie is maximaal voor een uitsturing van 63%.</a:t>
            </a:r>
          </a:p>
          <a:p>
            <a:pPr lvl="1"/>
            <a:r>
              <a:t>Deze dissipatie is kleiner dan de helft van het maximale AC vermogen.</a:t>
            </a:r>
          </a:p>
          <a:p>
            <a:pPr lvl="1"/>
            <a:r>
              <a:t>Per transistor is dit maar 1/4 van het maximale AC vermogen.</a:t>
            </a:r>
          </a:p>
          <a:p>
            <a:pPr lvl="1"/>
            <a:r>
              <a:t>Bij een klasse A is de maximale dissipatie het dubbele van het maximale AC vermogen.</a:t>
            </a:r>
          </a:p>
          <a:p>
            <a:pPr lvl="1"/>
            <a:r>
              <a:t>Voor een gelijk vermogen zullen de transistors van een klasse A versterker ongeveer 10 maal groter (en duurder) zijn.</a:t>
            </a:r>
          </a:p>
        </p:txBody>
      </p:sp>
      <p:sp>
        <p:nvSpPr>
          <p:cNvPr id="3" name="Title 2"/>
          <p:cNvSpPr>
            <a:spLocks noGrp="1"/>
          </p:cNvSpPr>
          <p:nvPr>
            <p:ph type="title"/>
          </p:nvPr>
        </p:nvSpPr>
        <p:spPr/>
        <p:txBody>
          <a:bodyPr wrap="square">
            <a:noAutofit/>
          </a:bodyPr>
          <a:lstStyle/>
          <a:p>
            <a:r>
              <a:rPr sz="3200" b="1" i="0">
                <a:latin typeface="Arial"/>
              </a:rPr>
              <a:t>Dissipatie per transistor</a:t>
            </a:r>
            <a:endParaRPr sz="3200" b="1" i="0">
              <a:latin typeface="Arial"/>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Invoering van terugkoppeling</a:t>
            </a:r>
            <a:endParaRPr sz="3200" b="1" i="0">
              <a:latin typeface="Arial"/>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Vermogentrap zonder terugkoppeling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556657" y="539496"/>
            <a:ext cx="9078686" cy="566928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Vermogentrap met terugkoppeling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674481" y="539496"/>
            <a:ext cx="8843038" cy="566928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Klasse B versterker met OPAMP terugkoppeling</a:t>
            </a:r>
            <a:endParaRPr sz="2400" b="0" i="0">
              <a:latin typeface="Courier"/>
            </a:endParaRPr>
          </a:p>
          <a:p>
            <a:pPr>
              <a:lnSpc>
                <a:spcPts val="2400"/>
              </a:lnSpc>
              <a:defRPr>
                <a:solidFill>
                  <a:srgbClr val="FFFFFF"/>
                </a:solidFill>
              </a:defRPr>
            </a:pPr>
            <a:r>
              <a:rPr sz="2400" b="0" i="0">
                <a:latin typeface="Courier"/>
              </a:rPr>
              <a:t>VPOS 8 0 DC +15V</a:t>
            </a:r>
            <a:endParaRPr sz="2400" b="0" i="0">
              <a:latin typeface="Courier"/>
            </a:endParaRPr>
          </a:p>
          <a:p>
            <a:pPr>
              <a:lnSpc>
                <a:spcPts val="2400"/>
              </a:lnSpc>
              <a:defRPr>
                <a:solidFill>
                  <a:srgbClr val="FFFFFF"/>
                </a:solidFill>
              </a:defRPr>
            </a:pPr>
            <a:r>
              <a:rPr sz="2400" b="0" i="0">
                <a:latin typeface="Courier"/>
              </a:rPr>
              <a:t>VNEG 9 0 DC -15V</a:t>
            </a:r>
            <a:endParaRPr sz="2400" b="0" i="0">
              <a:latin typeface="Courier"/>
            </a:endParaRPr>
          </a:p>
          <a:p>
            <a:pPr>
              <a:lnSpc>
                <a:spcPts val="2400"/>
              </a:lnSpc>
              <a:defRPr>
                <a:solidFill>
                  <a:srgbClr val="FFFFFF"/>
                </a:solidFill>
              </a:defRPr>
            </a:pPr>
            <a:r>
              <a:rPr sz="2400" b="0" i="0">
                <a:latin typeface="Courier"/>
              </a:rPr>
              <a:t>VS3 20 0 DC 0 SIN(0V 5VPEAK 10KHZ)</a:t>
            </a:r>
            <a:endParaRPr sz="2400" b="0" i="0">
              <a:latin typeface="Courier"/>
            </a:endParaRPr>
          </a:p>
          <a:p>
            <a:pPr>
              <a:lnSpc>
                <a:spcPts val="2400"/>
              </a:lnSpc>
              <a:defRPr>
                <a:solidFill>
                  <a:srgbClr val="FFFFFF"/>
                </a:solidFill>
              </a:defRPr>
            </a:pPr>
            <a:r>
              <a:rPr sz="2400" b="0" i="0">
                <a:latin typeface="Courier"/>
              </a:rPr>
              <a:t>Q21 8 23 22 QNPN</a:t>
            </a:r>
            <a:endParaRPr sz="2400" b="0" i="0">
              <a:latin typeface="Courier"/>
            </a:endParaRPr>
          </a:p>
          <a:p>
            <a:pPr>
              <a:lnSpc>
                <a:spcPts val="2400"/>
              </a:lnSpc>
              <a:defRPr>
                <a:solidFill>
                  <a:srgbClr val="FFFFFF"/>
                </a:solidFill>
              </a:defRPr>
            </a:pPr>
            <a:r>
              <a:rPr sz="2400" b="0" i="0">
                <a:latin typeface="Courier"/>
              </a:rPr>
              <a:t>Q22 9 23 22 QPNP</a:t>
            </a:r>
            <a:endParaRPr sz="2400" b="0" i="0">
              <a:latin typeface="Courier"/>
            </a:endParaRPr>
          </a:p>
          <a:p>
            <a:pPr>
              <a:lnSpc>
                <a:spcPts val="2400"/>
              </a:lnSpc>
              <a:defRPr>
                <a:solidFill>
                  <a:srgbClr val="FFFFFF"/>
                </a:solidFill>
              </a:defRPr>
            </a:pPr>
            <a:r>
              <a:rPr sz="2400" b="0" i="0">
                <a:latin typeface="Courier"/>
              </a:rPr>
              <a:t>RL3 22 0 100</a:t>
            </a:r>
            <a:endParaRPr sz="2400" b="0" i="0">
              <a:latin typeface="Courier"/>
            </a:endParaRPr>
          </a:p>
          <a:p>
            <a:pPr>
              <a:lnSpc>
                <a:spcPts val="2400"/>
              </a:lnSpc>
              <a:defRPr>
                <a:solidFill>
                  <a:srgbClr val="FFFFFF"/>
                </a:solidFill>
              </a:defRPr>
            </a:pPr>
            <a:r>
              <a:rPr sz="2400" b="0" i="0">
                <a:latin typeface="Courier"/>
              </a:rPr>
              <a:t>XOpAmp 20 22 8 9 23 8 opamp</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5V input swing</a:t>
            </a:r>
            <a:endParaRPr sz="3200" b="1" i="0">
              <a:latin typeface="Arial"/>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.model DNOM D()</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5V input swing</a:t>
            </a:r>
            <a:endParaRPr sz="3200" b="1" i="0">
              <a:latin typeface="Arial"/>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Terugkoppeling: stromen en spanningen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596545" y="539496"/>
            <a:ext cx="6998910" cy="566928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Nuldoorgang van de stromen en de spanningen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535366" y="539496"/>
            <a:ext cx="7121268" cy="566928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000" b="1" i="0">
                <a:latin typeface="Arial"/>
              </a:rPr>
              <a:t>Stroom door de transistor als functie van de spanning over</a:t>
            </a:r>
            <a:endParaRPr sz="3000" b="1" i="0">
              <a:latin typeface="Arial"/>
            </a:endParaRPr>
          </a:p>
        </p:txBody>
      </p:sp>
      <p:pic>
        <p:nvPicPr>
          <p:cNvPr id="4" name="Picture 3" descr="image.png"/>
          <p:cNvPicPr>
            <a:picLocks noChangeAspect="1"/>
          </p:cNvPicPr>
          <p:nvPr/>
        </p:nvPicPr>
        <p:blipFill>
          <a:blip r:embed="rId2"/>
          <a:stretch>
            <a:fillRect/>
          </a:stretch>
        </p:blipFill>
        <p:spPr>
          <a:xfrm>
            <a:off x="2580879" y="539496"/>
            <a:ext cx="7030241" cy="566928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Klasse B versterker met OPAMP terugkoppeling</a:t>
            </a:r>
            <a:endParaRPr sz="2400" b="0" i="0">
              <a:latin typeface="Courier"/>
            </a:endParaRPr>
          </a:p>
          <a:p>
            <a:pPr>
              <a:lnSpc>
                <a:spcPts val="2400"/>
              </a:lnSpc>
              <a:defRPr>
                <a:solidFill>
                  <a:srgbClr val="FFFFFF"/>
                </a:solidFill>
              </a:defRPr>
            </a:pPr>
            <a:r>
              <a:rPr sz="2400" b="0" i="0">
                <a:latin typeface="Courier"/>
              </a:rPr>
              <a:t>VPOS 8 0 DC +2.5V</a:t>
            </a:r>
            <a:endParaRPr sz="2400" b="0" i="0">
              <a:latin typeface="Courier"/>
            </a:endParaRPr>
          </a:p>
          <a:p>
            <a:pPr>
              <a:lnSpc>
                <a:spcPts val="2400"/>
              </a:lnSpc>
              <a:defRPr>
                <a:solidFill>
                  <a:srgbClr val="FFFFFF"/>
                </a:solidFill>
              </a:defRPr>
            </a:pPr>
            <a:r>
              <a:rPr sz="2400" b="0" i="0">
                <a:latin typeface="Courier"/>
              </a:rPr>
              <a:t>VNEG 9 0 DC -2.5V</a:t>
            </a:r>
            <a:endParaRPr sz="2400" b="0" i="0">
              <a:latin typeface="Courier"/>
            </a:endParaRPr>
          </a:p>
          <a:p>
            <a:pPr>
              <a:lnSpc>
                <a:spcPts val="2400"/>
              </a:lnSpc>
              <a:defRPr>
                <a:solidFill>
                  <a:srgbClr val="FFFFFF"/>
                </a:solidFill>
              </a:defRPr>
            </a:pPr>
            <a:r>
              <a:rPr sz="2400" b="0" i="0">
                <a:latin typeface="Courier"/>
              </a:rPr>
              <a:t>VS3 20 0 DC 0 SIN(0V 1VPEAK 10KHZ)</a:t>
            </a:r>
            <a:endParaRPr sz="2400" b="0" i="0">
              <a:latin typeface="Courier"/>
            </a:endParaRPr>
          </a:p>
          <a:p>
            <a:pPr>
              <a:lnSpc>
                <a:spcPts val="2400"/>
              </a:lnSpc>
              <a:defRPr>
                <a:solidFill>
                  <a:srgbClr val="FFFFFF"/>
                </a:solidFill>
              </a:defRPr>
            </a:pPr>
            <a:r>
              <a:rPr sz="2400" b="0" i="0">
                <a:latin typeface="Courier"/>
              </a:rPr>
              <a:t>Q21 8 23 22 QNPN</a:t>
            </a:r>
            <a:endParaRPr sz="2400" b="0" i="0">
              <a:latin typeface="Courier"/>
            </a:endParaRPr>
          </a:p>
          <a:p>
            <a:pPr>
              <a:lnSpc>
                <a:spcPts val="2400"/>
              </a:lnSpc>
              <a:defRPr>
                <a:solidFill>
                  <a:srgbClr val="FFFFFF"/>
                </a:solidFill>
              </a:defRPr>
            </a:pPr>
            <a:r>
              <a:rPr sz="2400" b="0" i="0">
                <a:latin typeface="Courier"/>
              </a:rPr>
              <a:t>Q22 9 23 22 QPNP</a:t>
            </a:r>
            <a:endParaRPr sz="2400" b="0" i="0">
              <a:latin typeface="Courier"/>
            </a:endParaRPr>
          </a:p>
          <a:p>
            <a:pPr>
              <a:lnSpc>
                <a:spcPts val="2400"/>
              </a:lnSpc>
              <a:defRPr>
                <a:solidFill>
                  <a:srgbClr val="FFFFFF"/>
                </a:solidFill>
              </a:defRPr>
            </a:pPr>
            <a:r>
              <a:rPr sz="2400" b="0" i="0">
                <a:latin typeface="Courier"/>
              </a:rPr>
              <a:t>RL3 22 0 100</a:t>
            </a:r>
            <a:endParaRPr sz="2400" b="0" i="0">
              <a:latin typeface="Courier"/>
            </a:endParaRPr>
          </a:p>
          <a:p>
            <a:pPr>
              <a:lnSpc>
                <a:spcPts val="2400"/>
              </a:lnSpc>
              <a:defRPr>
                <a:solidFill>
                  <a:srgbClr val="FFFFFF"/>
                </a:solidFill>
              </a:defRPr>
            </a:pPr>
            <a:r>
              <a:rPr sz="2400" b="0" i="0">
                <a:latin typeface="Courier"/>
              </a:rPr>
              <a:t>XOpAmp 20 22 8 9 23 8 opamp</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1V input swing</a:t>
            </a:r>
            <a:endParaRPr sz="3200" b="1" i="0">
              <a:latin typeface="Arial"/>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.model DNOM D()</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1V input swing</a:t>
            </a:r>
            <a:endParaRPr sz="3200" b="1" i="0">
              <a:latin typeface="Arial"/>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Ideale OpAmp</a:t>
            </a:r>
            <a:endParaRPr sz="3200" b="1" i="0">
              <a:latin typeface="Arial"/>
            </a:endParaRPr>
          </a:p>
        </p:txBody>
      </p:sp>
      <p:pic>
        <p:nvPicPr>
          <p:cNvPr id="4" name="Picture 3" descr="image.png"/>
          <p:cNvPicPr>
            <a:picLocks noChangeAspect="1"/>
          </p:cNvPicPr>
          <p:nvPr/>
        </p:nvPicPr>
        <p:blipFill>
          <a:blip r:embed="rId2"/>
          <a:stretch>
            <a:fillRect/>
          </a:stretch>
        </p:blipFill>
        <p:spPr>
          <a:xfrm>
            <a:off x="2543523" y="539496"/>
            <a:ext cx="7104954" cy="566928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Realistische OpAmp: LMV981-N</a:t>
            </a:r>
            <a:endParaRPr sz="3200" b="1" i="0">
              <a:latin typeface="Arial"/>
            </a:endParaRPr>
          </a:p>
        </p:txBody>
      </p:sp>
      <p:pic>
        <p:nvPicPr>
          <p:cNvPr id="4" name="Picture 3" descr="image.png"/>
          <p:cNvPicPr>
            <a:picLocks noChangeAspect="1"/>
          </p:cNvPicPr>
          <p:nvPr/>
        </p:nvPicPr>
        <p:blipFill>
          <a:blip r:embed="rId2"/>
          <a:stretch>
            <a:fillRect/>
          </a:stretch>
        </p:blipFill>
        <p:spPr>
          <a:xfrm>
            <a:off x="2543523" y="539496"/>
            <a:ext cx="7104954" cy="566928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Nodige Voedingsspanning</a:t>
            </a:r>
            <a:endParaRPr sz="3200" b="1" i="0">
              <a:latin typeface="Arial"/>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Nodige voedingsspanning  klasse B</a:t>
            </a:r>
            <a:endParaRPr sz="3200" b="1" i="0">
              <a:latin typeface="Arial"/>
            </a:endParaRPr>
          </a:p>
        </p:txBody>
      </p:sp>
      <p:pic>
        <p:nvPicPr>
          <p:cNvPr id="4" name="Picture 3" descr="image.png"/>
          <p:cNvPicPr>
            <a:picLocks noChangeAspect="1"/>
          </p:cNvPicPr>
          <p:nvPr/>
        </p:nvPicPr>
        <p:blipFill>
          <a:blip r:embed="rId2"/>
          <a:stretch>
            <a:fillRect/>
          </a:stretch>
        </p:blipFill>
        <p:spPr>
          <a:xfrm>
            <a:off x="1456768" y="539496"/>
            <a:ext cx="9278464" cy="566928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Nodige voedingsspanning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14138" y="539496"/>
            <a:ext cx="9363724" cy="566928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Beveiliging van de Klasse B vermogentransistors</a:t>
            </a:r>
            <a:endParaRPr sz="3200" b="1" i="0">
              <a:latin typeface="Arial"/>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tegen kortsluiting-overbelasting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99247" y="539496"/>
            <a:ext cx="9393506" cy="566928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Stroombeveiliging van een bipolaire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1971666" y="539496"/>
            <a:ext cx="8248668" cy="566928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Stroombegrenzing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119388" y="539496"/>
            <a:ext cx="7953223" cy="566928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Stroombegrenzing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775945" y="539496"/>
            <a:ext cx="6640110" cy="566928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 meting in de load</a:t>
            </a:r>
            <a:endParaRPr sz="3200" b="1" i="0">
              <a:latin typeface="Arial"/>
            </a:endParaRPr>
          </a:p>
        </p:txBody>
      </p:sp>
      <p:pic>
        <p:nvPicPr>
          <p:cNvPr id="4" name="Picture 3" descr="image.png"/>
          <p:cNvPicPr>
            <a:picLocks noChangeAspect="1"/>
          </p:cNvPicPr>
          <p:nvPr/>
        </p:nvPicPr>
        <p:blipFill>
          <a:blip r:embed="rId2"/>
          <a:stretch>
            <a:fillRect/>
          </a:stretch>
        </p:blipFill>
        <p:spPr>
          <a:xfrm>
            <a:off x="3315977" y="539496"/>
            <a:ext cx="5560045" cy="566928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van een bipolaire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2293672" y="539496"/>
            <a:ext cx="7604655" cy="566928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Overspanningsbegrenzing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047822" y="539496"/>
            <a:ext cx="8096355" cy="566928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van een bipolaire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3107721" y="539496"/>
            <a:ext cx="5976558" cy="566928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tegen kortsluiting-overbelasting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36307" y="539496"/>
            <a:ext cx="9519385" cy="566928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Begrenzing spanning, stroom en 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047822" y="539496"/>
            <a:ext cx="8096355" cy="566928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Globaal schema</a:t>
            </a:r>
            <a:endParaRPr sz="3200" b="1" i="0">
              <a:latin typeface="Arial"/>
            </a:endParaRPr>
          </a:p>
        </p:txBody>
      </p:sp>
      <p:pic>
        <p:nvPicPr>
          <p:cNvPr id="4" name="Picture 3" descr="image.png"/>
          <p:cNvPicPr>
            <a:picLocks noChangeAspect="1"/>
          </p:cNvPicPr>
          <p:nvPr/>
        </p:nvPicPr>
        <p:blipFill>
          <a:blip r:embed="rId2"/>
          <a:stretch>
            <a:fillRect/>
          </a:stretch>
        </p:blipFill>
        <p:spPr>
          <a:xfrm>
            <a:off x="1394956" y="539496"/>
            <a:ext cx="9402087" cy="566928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Filtering aan de ingang</a:t>
            </a:r>
            <a:endParaRPr sz="3200" b="1" i="0">
              <a:latin typeface="Arial"/>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Hoogdoorlaatfilter aan de ingang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95617" y="539496"/>
            <a:ext cx="7000765" cy="566928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Laagdoorlaatfilter aan ingang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95617" y="539496"/>
            <a:ext cx="7000765" cy="566928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Banddoorlaat filter aan de ingang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1904752" y="539496"/>
            <a:ext cx="8382495" cy="5669280"/>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Details banddoorlaatfilter</a:t>
            </a:r>
            <a:endParaRPr sz="3200" b="1" i="0">
              <a:latin typeface="Arial"/>
            </a:endParaRPr>
          </a:p>
        </p:txBody>
      </p:sp>
      <p:pic>
        <p:nvPicPr>
          <p:cNvPr id="4" name="Picture 3" descr="image.png"/>
          <p:cNvPicPr>
            <a:picLocks noChangeAspect="1"/>
          </p:cNvPicPr>
          <p:nvPr/>
        </p:nvPicPr>
        <p:blipFill>
          <a:blip r:embed="rId2"/>
          <a:stretch>
            <a:fillRect/>
          </a:stretch>
        </p:blipFill>
        <p:spPr>
          <a:xfrm>
            <a:off x="1188976" y="539496"/>
            <a:ext cx="9814048" cy="566928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