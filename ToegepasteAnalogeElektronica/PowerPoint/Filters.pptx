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  <p:sldId id="324" r:id="rId81"/>
    <p:sldId id="325" r:id="rId82"/>
    <p:sldId id="326" r:id="rId83"/>
    <p:sldId id="327" r:id="rId84"/>
    <p:sldId id="328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45" r:id="rId102"/>
    <p:sldId id="346" r:id="rId103"/>
    <p:sldId id="347" r:id="rId104"/>
    <p:sldId id="348" r:id="rId105"/>
    <p:sldId id="349" r:id="rId106"/>
    <p:sldId id="350" r:id="rId107"/>
    <p:sldId id="351" r:id="rId108"/>
    <p:sldId id="352" r:id="rId109"/>
    <p:sldId id="353" r:id="rId110"/>
    <p:sldId id="354" r:id="rId111"/>
    <p:sldId id="355" r:id="rId112"/>
    <p:sldId id="356" r:id="rId113"/>
    <p:sldId id="357" r:id="rId114"/>
    <p:sldId id="358" r:id="rId115"/>
    <p:sldId id="359" r:id="rId11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Relationship Id="rId81" Type="http://schemas.openxmlformats.org/officeDocument/2006/relationships/slide" Target="slides/slide69.xml"/><Relationship Id="rId82" Type="http://schemas.openxmlformats.org/officeDocument/2006/relationships/slide" Target="slides/slide70.xml"/><Relationship Id="rId83" Type="http://schemas.openxmlformats.org/officeDocument/2006/relationships/slide" Target="slides/slide71.xml"/><Relationship Id="rId84" Type="http://schemas.openxmlformats.org/officeDocument/2006/relationships/slide" Target="slides/slide72.xml"/><Relationship Id="rId85" Type="http://schemas.openxmlformats.org/officeDocument/2006/relationships/slide" Target="slides/slide73.xml"/><Relationship Id="rId86" Type="http://schemas.openxmlformats.org/officeDocument/2006/relationships/slide" Target="slides/slide74.xml"/><Relationship Id="rId87" Type="http://schemas.openxmlformats.org/officeDocument/2006/relationships/slide" Target="slides/slide75.xml"/><Relationship Id="rId88" Type="http://schemas.openxmlformats.org/officeDocument/2006/relationships/slide" Target="slides/slide76.xml"/><Relationship Id="rId89" Type="http://schemas.openxmlformats.org/officeDocument/2006/relationships/slide" Target="slides/slide77.xml"/><Relationship Id="rId90" Type="http://schemas.openxmlformats.org/officeDocument/2006/relationships/slide" Target="slides/slide78.xml"/><Relationship Id="rId91" Type="http://schemas.openxmlformats.org/officeDocument/2006/relationships/slide" Target="slides/slide79.xml"/><Relationship Id="rId92" Type="http://schemas.openxmlformats.org/officeDocument/2006/relationships/slide" Target="slides/slide80.xml"/><Relationship Id="rId93" Type="http://schemas.openxmlformats.org/officeDocument/2006/relationships/slide" Target="slides/slide81.xml"/><Relationship Id="rId94" Type="http://schemas.openxmlformats.org/officeDocument/2006/relationships/slide" Target="slides/slide82.xml"/><Relationship Id="rId95" Type="http://schemas.openxmlformats.org/officeDocument/2006/relationships/slide" Target="slides/slide83.xml"/><Relationship Id="rId96" Type="http://schemas.openxmlformats.org/officeDocument/2006/relationships/slide" Target="slides/slide84.xml"/><Relationship Id="rId97" Type="http://schemas.openxmlformats.org/officeDocument/2006/relationships/slide" Target="slides/slide85.xml"/><Relationship Id="rId98" Type="http://schemas.openxmlformats.org/officeDocument/2006/relationships/slide" Target="slides/slide86.xml"/><Relationship Id="rId99" Type="http://schemas.openxmlformats.org/officeDocument/2006/relationships/slide" Target="slides/slide87.xml"/><Relationship Id="rId100" Type="http://schemas.openxmlformats.org/officeDocument/2006/relationships/slide" Target="slides/slide88.xml"/><Relationship Id="rId101" Type="http://schemas.openxmlformats.org/officeDocument/2006/relationships/slide" Target="slides/slide89.xml"/><Relationship Id="rId102" Type="http://schemas.openxmlformats.org/officeDocument/2006/relationships/slide" Target="slides/slide90.xml"/><Relationship Id="rId103" Type="http://schemas.openxmlformats.org/officeDocument/2006/relationships/slide" Target="slides/slide91.xml"/><Relationship Id="rId104" Type="http://schemas.openxmlformats.org/officeDocument/2006/relationships/slide" Target="slides/slide92.xml"/><Relationship Id="rId105" Type="http://schemas.openxmlformats.org/officeDocument/2006/relationships/slide" Target="slides/slide93.xml"/><Relationship Id="rId106" Type="http://schemas.openxmlformats.org/officeDocument/2006/relationships/slide" Target="slides/slide94.xml"/><Relationship Id="rId107" Type="http://schemas.openxmlformats.org/officeDocument/2006/relationships/slide" Target="slides/slide95.xml"/><Relationship Id="rId108" Type="http://schemas.openxmlformats.org/officeDocument/2006/relationships/slide" Target="slides/slide96.xml"/><Relationship Id="rId109" Type="http://schemas.openxmlformats.org/officeDocument/2006/relationships/slide" Target="slides/slide97.xml"/><Relationship Id="rId110" Type="http://schemas.openxmlformats.org/officeDocument/2006/relationships/slide" Target="slides/slide98.xml"/><Relationship Id="rId111" Type="http://schemas.openxmlformats.org/officeDocument/2006/relationships/slide" Target="slides/slide99.xml"/><Relationship Id="rId112" Type="http://schemas.openxmlformats.org/officeDocument/2006/relationships/slide" Target="slides/slide100.xml"/><Relationship Id="rId113" Type="http://schemas.openxmlformats.org/officeDocument/2006/relationships/slide" Target="slides/slide101.xml"/><Relationship Id="rId114" Type="http://schemas.openxmlformats.org/officeDocument/2006/relationships/slide" Target="slides/slide102.xml"/><Relationship Id="rId115" Type="http://schemas.openxmlformats.org/officeDocument/2006/relationships/slide" Target="slides/slide103.xml"/><Relationship Id="rId116" Type="http://schemas.openxmlformats.org/officeDocument/2006/relationships/slide" Target="slides/slide10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Voor een laagdoorlaatfilter van de 5de orde is de orde van de veelterm in de teller 0 en de order van de veelterm in de noemer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 op dat bij het omschakelen naar de Switched Capacitor implementatie de laatste stage (inverterende opamp) verdwenen  is. </a:t>
            </a:r>
          </a:p>
          <a:p>
            <a:r>
              <a:t>De truc is dat voor R3 de klokken omgewisseld zijn, waardoor de stomen omgekeerd zijn en het geheel zich dus gedraagt als een negatieve weerstand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9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0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image" Target="../media/image6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8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9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6.png"/><Relationship Id="rId3" Type="http://schemas.openxmlformats.org/officeDocument/2006/relationships/notesSlide" Target="../notesSlides/notesSlide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Synthese aan de hand van opamps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Generic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3027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na invullen in de MNA matrix krijgen we: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MNA matrix van het algemene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2248742"/>
            <a:ext cx="939165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transferfunctie wordt: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Oplossing van de MNA matrix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2" y="2248742"/>
            <a:ext cx="5514975" cy="1990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transferfunctie wordt: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Oplossing van de MNA matrix zonder spoelen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12" y="2248742"/>
            <a:ext cx="5514975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de transferfunctie wordt: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Oplossing van de MNA matrix zonder spoelen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2248742"/>
            <a:ext cx="82486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Om een gevraagde transferfunctie te realiseren gaan we deze opsplitsen in een product van eentermen en tweetermen met reële coëfficiënten.</a:t>
            </a:r>
          </a:p>
          <a:p>
            <a:pPr lvl="1"/>
            <a:r>
              <a:t>We realiseren elk van deze circuits op zich en plaatsen ze gewoon achter elkaar.</a:t>
            </a:r>
          </a:p>
          <a:p>
            <a:pPr lvl="2"/>
            <a:r>
              <a:t>Het volgende circuit mag wel het vorige niet belasten, anders verandert de transferfunctie.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Realisatie in cascadeerbare actieve circuits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3620342"/>
            <a:ext cx="11344275" cy="1876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Hardware implementatie in building blocks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14794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Eerste en tweede orde filters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transfer functie van een eerste orde blok is: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 functie eerste orde bouwblok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25" y="2248742"/>
            <a:ext cx="417195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Basisblok van een algemeen eerste orde 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899" y="539496"/>
            <a:ext cx="727220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Basisblok in functie van de impedanties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30" y="539496"/>
            <a:ext cx="895613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Eerste orde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283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Eerste orde hoogdoorlaatfilter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2890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Eerste orde 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26193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Eerste orde 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25130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transfer functie van een tweede orde blok is: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 functie tweede orde blok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2248742"/>
            <a:ext cx="5962650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Bovenste gedeelte van het BiQuad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6925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Het volledige BiQuad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14" y="539496"/>
            <a:ext cx="1073857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laagdoorlaat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3863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* Sallen and Key Low pass filter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R1 1 2 10k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R2 2 3 10k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XOpAmp 3 4 8 9 5 8 opamp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C1 2 5 1.6nF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C2 3 0 1.6nF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Rkx 5 4 100k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Rx 4 0 100k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Vin 1 0 AC 0.5 0 DC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VPOS 8 0 DC +2.5V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VNEG 9 0 DC -2.5V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and Key Low pass 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LP: ideale 10 MHz opamp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67" y="539496"/>
            <a:ext cx="844166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LP: LMV981 opamp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67" y="539496"/>
            <a:ext cx="844166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hoogdoorlaat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4323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banddoorlaat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3412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Sallen en Key banddoorlaat circuit (2)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01482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Filter specificaties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Filter specificaties: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103" y="539496"/>
            <a:ext cx="668579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Filter specificaties: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27" y="539496"/>
            <a:ext cx="950254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verschillende filters die we in dit hoofdstuk zullen ontwerpen zijn:</a:t>
            </a:r>
          </a:p>
          <a:p>
            <a:pPr lvl="1"/>
            <a:r>
              <a:t>Laagdoorlaat filter (</a:t>
            </a:r>
            <a:r>
              <a:rPr b="1"/>
              <a:t>low-pass filter</a:t>
            </a:r>
            <a:r>
              <a:t>)</a:t>
            </a:r>
          </a:p>
          <a:p>
            <a:pPr lvl="1"/>
            <a:r>
              <a:t>Hoogdoorlaat filter (</a:t>
            </a:r>
            <a:r>
              <a:rPr b="1"/>
              <a:t>high-pass filter</a:t>
            </a:r>
            <a:r>
              <a:t>)</a:t>
            </a:r>
          </a:p>
          <a:p>
            <a:pPr lvl="1"/>
            <a:r>
              <a:t>Alles doorlaat filter (</a:t>
            </a:r>
            <a:r>
              <a:rPr b="1"/>
              <a:t>all-pass filter</a:t>
            </a:r>
            <a:r>
              <a:t>)</a:t>
            </a:r>
          </a:p>
          <a:p>
            <a:pPr lvl="1"/>
            <a:r>
              <a:t>Banddoorlaat filter (</a:t>
            </a:r>
            <a:r>
              <a:rPr b="1"/>
              <a:t>band-pass filter</a:t>
            </a:r>
            <a:r>
              <a:t>)</a:t>
            </a:r>
          </a:p>
          <a:p>
            <a:pPr lvl="1"/>
            <a:r>
              <a:t>Bandsper filter (</a:t>
            </a:r>
            <a:r>
              <a:rPr b="1"/>
              <a:t>band-stop filter</a:t>
            </a:r>
            <a:r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Filter types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Frequentietransformaties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Hiervoor gaan we typisch de transferfunctie herschrijven als functie van de parameter S, die gelijk is aan: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Frequentietransformaties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12" y="2248742"/>
            <a:ext cx="1247775" cy="857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687" y="3380312"/>
            <a:ext cx="5000625" cy="85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37" y="4511882"/>
            <a:ext cx="503872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frequentietransformatie die we hiervoor gebruiken is: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laagdoorlaatfilter naar hoogdoorlaatfilter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12" y="2248742"/>
            <a:ext cx="12477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frequentietransformatie die we hiervoor gebruiken is: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laagdoorlaatfilter naar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2248742"/>
            <a:ext cx="446722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Specifieke filter blokken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verschillende filters die we in dit hoofdstuk zullen ontwerpen zijn:</a:t>
            </a:r>
          </a:p>
          <a:p>
            <a:pPr lvl="1"/>
            <a:r>
              <a:rPr b="1"/>
              <a:t>Butterworth</a:t>
            </a:r>
            <a:r>
              <a:t> filter</a:t>
            </a:r>
          </a:p>
          <a:p>
            <a:pPr lvl="1"/>
            <a:r>
              <a:rPr b="1"/>
              <a:t>Chebyshev</a:t>
            </a:r>
            <a:r>
              <a:t> filter</a:t>
            </a:r>
          </a:p>
          <a:p>
            <a:pPr lvl="1"/>
            <a:r>
              <a:rPr b="1"/>
              <a:t>Invers Chebyshev</a:t>
            </a:r>
            <a:r>
              <a:t> filter</a:t>
            </a:r>
          </a:p>
          <a:p>
            <a:pPr lvl="1"/>
            <a:r>
              <a:rPr b="1"/>
              <a:t>Bessel-Thomson</a:t>
            </a:r>
            <a:r>
              <a:t>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Filter types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Als eerste voorbeeld ontwerpen we een analoge 3de orde laagdoorlaatfilter van het type Butterworth met afsnijfrequentie 1 MHz. De transferfunctie </a:t>
            </a:r>
            <a:r>
              <a:t>H(s)</a:t>
            </a:r>
            <a:r>
              <a:t> of </a:t>
            </a:r>
            <a:r>
              <a:t>H(jω)</a:t>
            </a:r>
            <a:r>
              <a:t> die we bekomen is: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Butterworth 3de orde laagdoorlaatfilter: Transfer functie 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163142"/>
            <a:ext cx="50292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a_n</a:t>
            </a:r>
            <a:r>
              <a:t> en </a:t>
            </a:r>
            <a:r>
              <a:t>b_n</a:t>
            </a:r>
            <a:r>
              <a:t> zijn de coëfficiënten van de veeltermen in de transferfunctie. </a:t>
            </a:r>
          </a:p>
          <a:p>
            <a:pPr/>
            <a:r>
              <a:t>Aangezien we hier een derde orde laagdoorlaatfilter ontwerpen is </a:t>
            </a:r>
            <a:r>
              <a:t>M=0</a:t>
            </a:r>
            <a:r>
              <a:t> en </a:t>
            </a:r>
            <a:r>
              <a:t>N=3</a:t>
            </a:r>
            <a:r>
              <a:t>.</a:t>
            </a:r>
          </a:p>
          <a:p>
            <a:pPr/>
            <a:r>
              <a:t>Voor deze oefening is het resultaat van de berekening van deze coëfficiënten: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Butterworth 3de orde laagdoorlaatfilter: Transfer functie 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2.4805021344239852e+20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12566370.614359174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78956835208714.88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2.4805021344239852e+20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Coeficienten derde orde Butterworth laagdoorlaatfilter (1 MHz)</a:t>
            </a:r>
            <a:endParaRPr sz="2800" b="1" i="0"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600" b="1" i="0">
                <a:latin typeface="Arial"/>
              </a:rPr>
              <a:t>Amplitude en fase derde orde Butterworth laagdoorlaatfilter (1 MHz)</a:t>
            </a:r>
            <a:endParaRPr sz="26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kunnen deze transferfunctie ook schrijven als functie van polen en nulpunten: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 functie als functie van polen en nulpunten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2248742"/>
            <a:ext cx="60198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(-3141592.6535897935+5441398.092702653j)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(-6283185.307179586-0j)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(-3141592.6535897935-5441398.092702653j)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derde orde Butterworth laagdoorlaatfilter(1 MHz)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derde orde Butterworth laagdoorlaatfilter(1 MHz)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2" y="539496"/>
            <a:ext cx="56369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Opsplitsing derde orde Butterworth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rond de afsnijfrequentie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390" y="539496"/>
            <a:ext cx="79812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Opsplitsing in de bouwblokken H1 en H2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30671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Implementatie tweede orde filter H1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486" y="539496"/>
            <a:ext cx="810102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Implementatie eerste orde filter H2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335" y="539496"/>
            <a:ext cx="758733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9.792629913129003e+33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a[ 5 ]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a[ 4 ] = 20332814.76926104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206711678220539.9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1.2988077794177306e+21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5.043559043399954e+27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9.792629913129004e+33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400" b="1" i="0">
                <a:latin typeface="Arial"/>
              </a:rPr>
              <a:t>Coefficienten transferfunctie vijfde orde Butterworth laagdoorlaatfilter (1 MHz)</a:t>
            </a:r>
            <a:endParaRPr sz="2400" b="1" i="0">
              <a:latin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600" b="1" i="0">
                <a:latin typeface="Arial"/>
              </a:rPr>
              <a:t>Amplitude en fase vijfde orde Butterworth laagdoorlaatfilter (1 MHz)</a:t>
            </a:r>
            <a:endParaRPr sz="26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(-1941611.0387254667+5975664.329483111j)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(-5083203.69231526+3693163.6609809133j)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(-6283185.307179586-0j)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p[ 4 ] = (-5083203.69231526-3693163.6609809133j)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p[ 5 ] = (-1941611.0387254667-5975664.329483111j)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vijfde orde Butterworth laagdoorlaatfilter (1 MHz)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vijfde orde Butterworth laagdoorlaatfilter (1 MHz)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2" y="539496"/>
            <a:ext cx="56369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Opsplitsing in 3 transferfunkties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Hardware implementatie in 3 building blocks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2183641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800" b="1" i="0">
                <a:latin typeface="Arial"/>
              </a:rPr>
              <a:t>Vergelijking derde en vijfde orde Butterworth laagdoorlaatfilter</a:t>
            </a:r>
            <a:endParaRPr sz="28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b[ 7 ] = 6.334013983218556e+58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b[ 6 ]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b[ 5 ]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b[ 4 ]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b[ 3 ]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b[ 2 ]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b[ 1 ]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14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a[ 14 ] = 1.0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a[ 13 ] = 1129455138.528784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a[ 12 ] = 7.760089165897884e+17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a[ 11 ] = 3.654151505077993e+26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a[ 10 ] = 1.293535546920629e+35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a[ 9 ] = 3.5017090931362664e+43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a[ 8 ] = 7.334620231296047e+51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a[ 7 ] = 1.1783749530590898e+60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a[ 6 ] = 1.4477960023023706e+68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a[ 5 ] = 1.3643931993116192e+76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a[ 4 ] = 9.948728770520122e+83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5.547604782936569e+91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2.325495035605259e+99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6.681091689314365e+106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1.1676379112645588e+114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7de orde Butterworth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z[ 1 ]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z[ 2 ]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z[ 3 ]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z[ 4 ]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z[ 5 ]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z[ 6 ]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z[ 7 ]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14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(-9467553.01746494-62713329.10036281j)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(-30211474.606362037-61659756.49600357j)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(-58777850.02496373-58866599.60061156j)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p[ 4 ] = (-125663706.14359173-62831853.07179589j)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p[ 5 ] = (-58777850.02496373+58866599.60061156j)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p[ 6 ] = (-30211474.606362037+61659756.49600357j)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p[ 7 ] = (-9467553.01746494+62713329.10036281j)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p[ 8 ] = (-46458057.493502825+307739438.435567j)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p[ 9 ] = (-126488603.88224223+258155439.82934594j)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p[ 10 ] = (-167660324.09626448+167913476.98651484j)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p[ 11 ] = (-125663706.14359173+62831853.07179589j)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p[ 12 ] = (-167660324.09626448-167913476.98651484j)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p[ 13 ] = (-126488603.88224223-258155439.82934594j)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p[ 14 ] = (-46458057.493502825-307739438.435567j)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2" y="539496"/>
            <a:ext cx="56369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Vergelijking banddoorlaatfilter en opeenvolging laagdoorlaat- en hoogdoorlaatfilter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b[ 7 ] = 1.082225670413975e+53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b[ 6 ]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b[ 5 ]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b[ 4 ]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b[ 3 ]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b[ 2 ]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b[ 1 ]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14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a[ 14 ] = 1.0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a[ 13 ] = 169418270.77931747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a[ 12 ] = 7.027364430041076e+17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a[ 11 ] = 1.0074611841037228e+26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a[ 10 ] = 2.1017496540749808e+35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a[ 9 ] = 2.488471395316168e+43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a[ 8 ] = 3.4683129207221617e+52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a[ 7 ] = 3.2679992552874596e+60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a[ 6 ] = 3.4107645311434367e+69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a[ 5 ] = 2.406576000783415e+77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a[ 4 ] = 1.998855398085796e+86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9.422413939327687e+93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6.463381596708082e+102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1.5323607880306775e+110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8.894760315452719e+118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7de orde Butterworth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7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z[ 1 ]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z[ 2 ]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z[ 3 ]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z[ 4 ]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z[ 5 ]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z[ 6 ]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z[ 7 ] = 0j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14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(-3949021.641305336-295726397.242198j)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(-11200424.836296545-298982612.7578789j)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(-16539450.539423024-305061656.189032j)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p[ 4 ] = (-18849555.92153874-313026248.8897938j)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p[ 5 ] = (-16539450.539423024+305061656.189032j)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p[ 6 ] = (-11200424.836296545+298982612.7578789j)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p[ 7 ] = (-3949021.641305336+295726397.242198j)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p[ 8 ] = (-4439819.935339821+332480313.6424786j)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p[ 9 ] = (-12304586.93699407+328456965.2578802j)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p[ 10 ] = (-17426275.57876118+321418687.7969175j)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p[ 11 ] = (-18849555.92153874+313026248.8897938j)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p[ 12 ] = (-17426275.57876118-321418687.7969175j)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p[ 13 ] = (-12304586.93699407-328456965.2578802j)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p[ 14 ] = (-4439819.935339821-332480313.6424786j)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een 7de orde Butterworth banddoorlaatfilter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2" y="539496"/>
            <a:ext cx="56369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200" b="1" i="0">
                <a:latin typeface="Arial"/>
              </a:rPr>
              <a:t>Vergelijking 7de orde banddoorlaatfilter en opeenvolging laagdoorlaat- en hoogdoorlaatfilter</a:t>
            </a:r>
            <a:endParaRPr sz="2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transferfunctie is:</a:t>
            </a:r>
          </a:p>
          <a:p>
            <a:pPr lvl="1"/>
            <a:r>
              <a:t>n rimpels in de doorlaatband</a:t>
            </a:r>
          </a:p>
          <a:p>
            <a:pPr/>
          </a:p>
          <a:p>
            <a:pPr/>
            <a:r>
              <a:t>met:</a:t>
            </a:r>
          </a:p>
          <a:p>
            <a:pPr/>
          </a:p>
          <a:p>
            <a:pPr/>
            <a:r>
              <a:t>met S voor een laagdoorlaatfilter:</a:t>
            </a:r>
          </a:p>
          <a:p>
            <a:pPr/>
          </a:p>
          <a:p>
            <a:pPr/>
            <a:r>
              <a:t>De amplitude voor </a:t>
            </a:r>
            <a:r>
              <a:t>ω=ω o</a:t>
            </a:r>
            <a:r>
              <a:t> is:</a:t>
            </a:r>
          </a:p>
          <a:p>
            <a:pPr lvl="1"/>
            <a:r>
              <a:t>dit is ook de amplitude van de rimpel</a:t>
            </a:r>
          </a:p>
          <a:p>
            <a:pPr/>
          </a:p>
          <a:p>
            <a:pPr/>
            <a:r>
              <a:t>Boven deze frequentie daalt deze functie als: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Chebyshev filter: Transferfunctie 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25" y="1151462"/>
            <a:ext cx="3714750" cy="904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337" y="2330657"/>
            <a:ext cx="4200525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5425" y="2995502"/>
            <a:ext cx="1276350" cy="857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0" y="4127072"/>
            <a:ext cx="4152900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6225" y="5306267"/>
            <a:ext cx="3714750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Chebyshev filter: verschil even en oneven orde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876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25" y="752856"/>
            <a:ext cx="3714750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Deze laagdoorlaatfilter heeft enkel polen</a:t>
            </a:r>
          </a:p>
          <a:p>
            <a:pPr/>
            <a:r>
              <a:t>Deze polen liggen op een ellips in het complexe vlak</a:t>
            </a:r>
          </a:p>
          <a:p>
            <a:pPr/>
            <a:r>
              <a:t>We plaatsen de polen eerst zoals Butterworth op een circel</a:t>
            </a:r>
          </a:p>
          <a:p>
            <a:pPr/>
            <a:r>
              <a:t>Op basis van de rimpel bepalen we de parameter a:</a:t>
            </a:r>
          </a:p>
          <a:p>
            <a:pPr/>
          </a:p>
          <a:p>
            <a:pPr/>
            <a:r>
              <a:t>De reële as vermenigvuldigen we met:</a:t>
            </a:r>
          </a:p>
          <a:p>
            <a:pPr/>
            <a:r>
              <a:t>De complexe as vermenigvuldigen we met:</a:t>
            </a:r>
          </a:p>
          <a:p>
            <a:pPr/>
          </a:p>
          <a:p>
            <a:pPr/>
            <a:r>
              <a:t>De polen met hetzelfde reëel deel vormen een 2de graads veelterm: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Chebyshev filter: plaats van de polen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6887" y="2248742"/>
            <a:ext cx="2562225" cy="80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62" y="3515567"/>
            <a:ext cx="1666875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950" y="3631772"/>
            <a:ext cx="1714500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187" y="4753817"/>
            <a:ext cx="3095625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De transferfunctie is:</a:t>
            </a:r>
          </a:p>
          <a:p>
            <a:pPr lvl="1"/>
            <a:r>
              <a:t>n rimpels in de sperband</a:t>
            </a:r>
          </a:p>
          <a:p>
            <a:pPr/>
          </a:p>
          <a:p>
            <a:pPr/>
            <a:r>
              <a:t>met:</a:t>
            </a:r>
          </a:p>
          <a:p>
            <a:pPr/>
          </a:p>
          <a:p>
            <a:pPr/>
            <a:r>
              <a:t>met S voor een laagdoorlaatfilter:</a:t>
            </a:r>
          </a:p>
          <a:p>
            <a:pPr/>
          </a:p>
          <a:p>
            <a:pPr/>
            <a:r>
              <a:t>De polen zijn de omgekeerden </a:t>
            </a:r>
          </a:p>
          <a:p>
            <a:pPr/>
            <a:r>
              <a:t>(1/p) is van de Chebyshev filter</a:t>
            </a:r>
          </a:p>
          <a:p>
            <a:pPr lvl="1"/>
            <a:r>
              <a:t>deze liggen niet op een cirkel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Invers Chebyshev filter: Transferfunctie 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085" y="1151462"/>
            <a:ext cx="4095750" cy="96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37" y="2387807"/>
            <a:ext cx="4200525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3052652"/>
            <a:ext cx="12763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We willen de output een vaste </a:t>
            </a:r>
          </a:p>
          <a:p>
            <a:pPr/>
            <a:r>
              <a:t>vertraging geven ten opzichte van de ingang.</a:t>
            </a:r>
          </a:p>
          <a:p>
            <a:pPr/>
            <a:r>
              <a:t>    </a:t>
            </a:r>
          </a:p>
          <a:p>
            <a:pPr/>
            <a:r>
              <a:t>Hiervoor moet de fase lineair veranderen met de ingang.</a:t>
            </a:r>
          </a:p>
          <a:p>
            <a:pPr/>
          </a:p>
          <a:p>
            <a:pPr/>
            <a:r>
              <a:t>We drukken de group delay uit als een </a:t>
            </a:r>
          </a:p>
          <a:p>
            <a:pPr/>
            <a:r>
              <a:t>reeksontwikkeling van w, en stellen hierin </a:t>
            </a:r>
          </a:p>
          <a:p>
            <a:pPr/>
            <a:r>
              <a:t>zoveel mogelijk coëfficiënten gelijk aan nul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Bessel-thomson filter (Delay filter)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2.298652790795694e+24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92822184.81844565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5.168208012246375e+16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2.2986527907956946e+24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40 MHz Chebyshev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40 MHz Chebyshev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de 6dB passband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(-23205546.204611413+221335928.5095666j)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(-46411092.40922282-0j)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(-23205546.204611413-221335928.5095666j)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derde orde 40 MHz Chebyshev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derde orde 40 MHz Chebyshev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512" y="539496"/>
            <a:ext cx="563697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1.0669416336250132e+69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a[ 8 ]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a[ 7 ] = 524820305.9616953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a[ 6 ] = 1.2746966037803576e+18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a[ 5 ] = 5.1937707944741785e+26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a[ 4 ] = 5.104888759746549e+35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a[ 3 ] = 1.45769782715832e+44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6.590270478283454e+52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1.0103634193419598e+61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120 MHz 8ste orde Chebyshev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1.3431999354717115e+69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120 MHz 8ste orde Chebyshev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120 MHz 8ste orde Chebyshev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Detail van de 2dB passband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8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(-19974783.518686887+746281824.2305412j)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(-56883370.83720408+632667181.5530242j)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p[ 3 ] = (-85131980.59479763+422734695.6263414j)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p[ 4 ] = (-100420018.03015907+148444684.39010677j)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p[ 5 ] = (-100420018.03015907-148444684.39010677j)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p[ 6 ] = (-85131980.59479763-422734695.6263414j)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p[ 7 ] = (-56883370.83720408-632667181.5530242j)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p[ 8 ] = (-19974783.518686887-746281824.2305412j)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120 MHz Chebyshev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120 MHz Chebyshev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436" y="539496"/>
            <a:ext cx="565312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500" b="1" i="0">
                <a:latin typeface="Arial"/>
              </a:rPr>
              <a:t>Vergelijking Butterworth en Chebyshev laagdoorlaatfilters (8ste orde)</a:t>
            </a:r>
            <a:endParaRPr sz="25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1.780752121671573e+16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121560720.41014235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2.5153792295277244e+16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Chebyshev 30 MHz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Transferfunctie Chebyshev 30 MHz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nullen: M= 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Lijst der polen: N= 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p[ 1 ] = (-60780360.20507117+146490750.93199244j)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p[ 2 ] = (-60780360.20507117-146490750.93199244j)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de Chebyshev 30 MHz laagdoorlaatfilter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Polen van de Chebyshev 30 MHz laagdoorlaatfilter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904" y="539496"/>
            <a:ext cx="576619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teller: M= 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b[ 2 ]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b[ 1 ]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b[ 0 ] = 0.0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Veelterm coefficienten noemer: N= 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a[ 2 ] = 1.0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a[ 1 ] = 10882.796185405305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a[ 0 ] = 39478417.60435742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600" b="1" i="0">
                <a:latin typeface="Arial"/>
              </a:rPr>
              <a:t>Transferfunktie van een Bessel Thomson hoogdoorlaatfilter (1 kHz)</a:t>
            </a:r>
            <a:endParaRPr sz="2600" b="1" i="0">
              <a:latin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2600" b="1" i="0">
                <a:latin typeface="Arial"/>
              </a:rPr>
              <a:t>Transferfunktie van een Bessel Thomson hoogdoorlaatfilter (1 kHz)</a:t>
            </a:r>
            <a:endParaRPr sz="26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870" y="539496"/>
            <a:ext cx="818225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Switched Capacitor filters</a:t>
            </a:r>
            <a:endParaRPr sz="3200" b="1" i="0">
              <a:latin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Weerstanden op chip zijn nooit heel erg nauwkeurig</a:t>
            </a:r>
          </a:p>
          <a:p>
            <a:pPr lvl="1"/>
            <a:r>
              <a:t>We kunnen een weerstand vervangen door een condensator en 2 schakelaars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Switched Capacitor weerstand (SC)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2248742"/>
            <a:ext cx="3362325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913587"/>
            <a:ext cx="15621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 lvl="1"/>
            <a:r>
              <a:t>Het eenvoudige circuit heeft last van de parasitaire capaciteiten</a:t>
            </a:r>
          </a:p>
          <a:p>
            <a:pPr lvl="1"/>
            <a:r>
              <a:t>Het verdubbelen van de schakelaars lost dit probleem op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Betere SC weerstand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2248742"/>
            <a:ext cx="3362325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2913587"/>
            <a:ext cx="15621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Verbeterde Switched Capacitor weerstand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18399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Bovenste gedeelte van het BiQuad circuit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4707928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SC BiQuad filter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496"/>
            <a:ext cx="12192000" cy="5507659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