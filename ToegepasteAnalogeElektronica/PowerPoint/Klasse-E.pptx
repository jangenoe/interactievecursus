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Voor de praktisch implementatie mag de volgorde van C&lt;sub&gt;2&lt;/sub&gt; en L&lt;sub&gt;2&lt;/sub&gt; omgewisseld worden. Dit heeft geen enkele invloed op de werking van de seriekring.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E versterkers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Hoogfrequent versterkers 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met 1 vermogentransistor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Oktober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Klasse 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033" y="539496"/>
            <a:ext cx="776793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klasse E versterker is een zeer efficiënte hoogfrequent versterker die gebruik maakt van:</a:t>
            </a:r>
          </a:p>
          <a:p>
            <a:pPr/>
          </a:p>
          <a:p>
            <a:pPr lvl="1"/>
            <a:r>
              <a:rPr b="1"/>
              <a:t>Eén enkele vermogentransistor</a:t>
            </a:r>
            <a:r>
              <a:t> als schakelend element</a:t>
            </a:r>
          </a:p>
          <a:p>
            <a:pPr lvl="1"/>
            <a:r>
              <a:rPr b="1"/>
              <a:t>Resonante LRC trilkring</a:t>
            </a:r>
            <a:r>
              <a:t> voor frequentieselectie</a:t>
            </a:r>
          </a:p>
          <a:p>
            <a:pPr lvl="1"/>
            <a:r>
              <a:rPr b="1"/>
              <a:t>Optimale timing</a:t>
            </a:r>
            <a:r>
              <a:t> tussen spanning en stroom voor minimaal vermogenverlies</a:t>
            </a:r>
          </a:p>
          <a:p>
            <a:pPr lvl="1"/>
            <a:r>
              <a:rPr b="1"/>
              <a:t>Hoge efficiëntie</a:t>
            </a:r>
            <a:r>
              <a:t> (tot 95% theoretisch mogelijk)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Klasse E 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Verklaring van de werking stap voor stap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Resonante seriekring van de klasse 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651" y="539496"/>
            <a:ext cx="1025869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Stroom in resonante seriekring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04" y="539496"/>
            <a:ext cx="1067839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Voeding met DC stroom door L1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8750" y="539496"/>
            <a:ext cx="645449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Voeding met DC stroom door L1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8" y="539496"/>
            <a:ext cx="1073964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Integratie stroom op C1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037" y="539496"/>
            <a:ext cx="609192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Integratie stroom op C1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8" y="539496"/>
            <a:ext cx="1073964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Integratie stroom op C1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803" y="539496"/>
            <a:ext cx="696239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Transistor om de spanning op 0 te houden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59" y="539496"/>
            <a:ext cx="779708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Spanning na integratie stroom op C1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8" y="539496"/>
            <a:ext cx="1073964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Klasse E met derde harmonische 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511" y="539496"/>
            <a:ext cx="980897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Uitgewerkte voorbeelden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Voor frequenties beneden 1 MHz: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Ontwerpvergelijkingen voor laagfrequent Klasse E Versterkers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2" y="1334342"/>
            <a:ext cx="11382375" cy="9715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580212"/>
            <a:ext cx="10058400" cy="952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425" y="3807032"/>
            <a:ext cx="10725150" cy="952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2550" y="5033852"/>
            <a:ext cx="1866900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rPr b="1"/>
              <a:t>Verwacht vermogen</a:t>
            </a:r>
            <a:r>
              <a:t> : 5W</a:t>
            </a:r>
          </a:p>
          <a:p>
            <a:pPr lvl="1"/>
            <a:r>
              <a:rPr b="1"/>
              <a:t>Frequentie</a:t>
            </a:r>
            <a:r>
              <a:t> : 475 kHz</a:t>
            </a:r>
          </a:p>
          <a:p>
            <a:pPr lvl="1"/>
            <a:r>
              <a:rPr b="1"/>
              <a:t>Voedingsspanning</a:t>
            </a:r>
            <a:r>
              <a:t> : 12.5 V</a:t>
            </a:r>
          </a:p>
          <a:p>
            <a:pPr lvl="1"/>
            <a:r>
              <a:rPr b="1"/>
              <a:t>Kwaliteitsfactor</a:t>
            </a:r>
            <a:r>
              <a:t> : 5</a:t>
            </a:r>
          </a:p>
          <a:p>
            <a:pPr lvl="1"/>
            <a:r>
              <a:rPr b="1"/>
              <a:t>Saturatiespanning</a:t>
            </a:r>
            <a:r>
              <a:t> 0.5V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1 : Opgave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RL = 14.88 Ohm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C₁ = 4.78 nF (i.e. complexe impedantie van -70.07 i Ohm)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C₂ = 6.04 nF (i.e. complexe impedantie van -55.50 i Ohm)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L₂ = 24.93 uH (i.e. complexe impedantie van 74.39 i Ohm)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Totale complexe impedantie (seriekring):  18.89 i Ohm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Maximale stroom uit de voeding: 416.67 mA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Maximale source-drain spanning (transistor): 55.62 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Hierbij werd een 80% veiligheidsmarge genomen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We kunnen de uitgang omwerken naar een impedantie van 50 Ohm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door een transformator met wikkelverhouding: 1.83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Voorbeeld1 : berekende elementen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1: Bekomen schema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486" y="539496"/>
            <a:ext cx="726902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E amp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M_M1         2 1 0 0 FDB33N25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2 3  1000uH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2 0  4.78nF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L_L2         4 5  24.93uH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C_C2         2 4  6.04nF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         5 0  14.88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V_Vdd        3 0 12.5V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        1 0 PULSE(0 9 1.05u 20n 20n 1.05u 2.10526u) DC=0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FDB33N25 VDMOS(Rg=3 Rd=40m Rs=27m Vto=5.35 Kp=35 lambda=.05 Cgdmax=1.1n Cgdmin=25p Cgs=1.7n Cjo=800p Is=7.94p Rb=7m mfg=Fairchild Vds=250 Ron=94m Qg=37n)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Voorbeeld1 : Spice file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1: Verloop spanningen (opstarten oscillatie)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81" y="539496"/>
            <a:ext cx="910623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1: detail van de opstart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313" y="539496"/>
            <a:ext cx="903137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1: detail 1 periode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404" y="539496"/>
            <a:ext cx="895719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1: Schema met aanpassing 50 Ohm coax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7378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rPr b="1"/>
              <a:t>Verwacht vermogen</a:t>
            </a:r>
            <a:r>
              <a:t> : 50W</a:t>
            </a:r>
          </a:p>
          <a:p>
            <a:pPr lvl="1"/>
            <a:r>
              <a:rPr b="1"/>
              <a:t>Frequentie</a:t>
            </a:r>
            <a:r>
              <a:t> : 137.77 kHz</a:t>
            </a:r>
          </a:p>
          <a:p>
            <a:pPr lvl="1"/>
            <a:r>
              <a:rPr b="1"/>
              <a:t>Voedingsspanning</a:t>
            </a:r>
            <a:r>
              <a:t> : 12.5 V</a:t>
            </a:r>
          </a:p>
          <a:p>
            <a:pPr lvl="1"/>
            <a:r>
              <a:rPr b="1"/>
              <a:t>Kwaliteitsfactor</a:t>
            </a:r>
            <a:r>
              <a:t> : 5</a:t>
            </a:r>
          </a:p>
          <a:p>
            <a:pPr lvl="1"/>
            <a:r>
              <a:rPr b="1"/>
              <a:t>Saturatiespanning</a:t>
            </a:r>
            <a:r>
              <a:t> 0.9V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2 : Opgave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RL = 1.39 Ohm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C₁ = 176.90 nF (i.e. complexe impedantie van -6.53 i Ohm)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C₂ = 222.56 nF (i.e. complexe impedantie van -5.19 i Ohm)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L₂ = 8.03 uH (i.e. complexe impedantie van 6.95 i Ohm)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Totale complexe impedantie (seriekring):  1.76 i Ohm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Maximale stroom uit de voeding: 4310.34 mA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Maximale source-drain spanning (transistor): 55.62 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Hierbij werd een 80% veiligheidsmarge genomen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We kunnen de uitgang omwerken naar een impedantie van 50 Ohm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door een transformator met wikkelverhouding: 6.00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2: waardes componenten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2: Bekomen schema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486" y="539496"/>
            <a:ext cx="726902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2: aanpassing 50 Ohm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737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E amp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M_M1         2 1 0 0 FDB33N25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2 3  270uH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2 0  176.9nF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L_L2         4 5  8.03uH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C_C2         2 4  222.56nF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         5 0  1.39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V_Vdd        3 0 12.5V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        1 0 PULSE(0 9 3.65u 20n 20n 3.65u 7.3u) DC=0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FDB33N25 VDMOS(Rg=3 Rd=40m Rs=27m Vto=5.35 Kp=35 lambda=.05 Cgdmax=1.1n Cgdmin=25p Cgs=1.7n Cjo=800p Is=7.94p Rb=7m mfg=Fairchild Vds=250 Ron=94m Qg=37n)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2: SPICE file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2: bekomen oscillatie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094" y="539496"/>
            <a:ext cx="1135781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2: detail opstartsequentie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57" y="539496"/>
            <a:ext cx="1138668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2: 1 periode van de Steady State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02" y="539496"/>
            <a:ext cx="1118559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3: Klasse E met injection locking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628" y="539496"/>
            <a:ext cx="802074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E Tsai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M_SWn        0 11 10 0 nmos W=31580u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M_SWp        3 11 10 3 pmos W=500u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stage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3 6  0.37nH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L_L2         3 7  0.37nH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M_11         10 1 6 0 nmos W=980u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M_12         10 7 6 0 nmos W=980u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M_13         10 6 7 0 nmos W=980u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M_14         10 2 7 0 nmos W=980u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stage 2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Voorbeeld 3: SPICE file Klasse E circuit met injection locking</a:t>
            </a:r>
            <a:endParaRPr sz="2900" b="1" i="0"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M_21         10 6 8 0 nmos W=3600u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M_22         10 9 8 0 nmos W=4800u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M_23         10 8 9 0 nmos W=4800u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M_24         10 7 9 0 nmos W=3600u L=0.35u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L_L3         3 8  0.37nH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L_L4         3 9  0.37nH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L_L5         8 4  0.8nH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L_L6         9 5  0.8nH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4 5  5.1pF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belasting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R_RL1        4 0  50 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Voorbeeld 3: SPICE file Klasse E circuit met injection locking</a:t>
            </a:r>
            <a:endParaRPr sz="2900" b="1" i="0"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R_RL2        5 0  50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.include simul/berkeley35.lib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Voorbeeld 3: SPICE file Klasse E circuit met injection locking</a:t>
            </a:r>
            <a:endParaRPr sz="2900" b="1" i="0"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Voorbeeld 3: simulatie Klasse E circuit met injection locking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701" y="539496"/>
            <a:ext cx="905859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3: 1 periode M21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327" y="539496"/>
            <a:ext cx="899734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Voorbeeld 3: 1 periode M22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895" y="539496"/>
            <a:ext cx="907220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Samenvatting en Conclusies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klasse E versterker biedt verschillende belangrijke voordelen:</a:t>
            </a:r>
          </a:p>
          <a:p>
            <a:pPr lvl="1"/>
            <a:r>
              <a:rPr b="1"/>
              <a:t>Efficiëntie:</a:t>
            </a:r>
          </a:p>
          <a:p>
            <a:pPr lvl="2"/>
            <a:r>
              <a:t>Theoretisch tot 100% efficiëntie mogelijk</a:t>
            </a:r>
          </a:p>
          <a:p>
            <a:pPr lvl="2"/>
            <a:r>
              <a:t>Praktisch 85-95% haalbaar</a:t>
            </a:r>
          </a:p>
          <a:p>
            <a:pPr lvl="2"/>
            <a:r>
              <a:t>Ideaal voor batterij-gevoede toepassingen</a:t>
            </a:r>
          </a:p>
          <a:p>
            <a:pPr lvl="1"/>
            <a:r>
              <a:rPr b="1"/>
              <a:t>Frequentiebereik:</a:t>
            </a:r>
          </a:p>
          <a:p>
            <a:pPr lvl="2"/>
            <a:r>
              <a:t>Optimaal voor hoogfrequent toepassingen (MHz-GHz)</a:t>
            </a:r>
          </a:p>
          <a:p>
            <a:pPr lvl="2"/>
            <a:r>
              <a:t>Beperkte bandbreedte rond resonantiefrequentie</a:t>
            </a:r>
          </a:p>
          <a:p>
            <a:pPr lvl="2"/>
            <a:r>
              <a:t>Geschikt voor narrowband communicatie</a:t>
            </a:r>
          </a:p>
          <a:p>
            <a:pPr lvl="1"/>
            <a:r>
              <a:rPr b="1"/>
              <a:t>Implementatie:</a:t>
            </a:r>
          </a:p>
          <a:p>
            <a:pPr lvl="2"/>
            <a:r>
              <a:t>Eenvoudige topologie met één transistor</a:t>
            </a:r>
          </a:p>
          <a:p>
            <a:pPr lvl="2"/>
            <a:r>
              <a:t>Kritische timing tussen spanning en stroom</a:t>
            </a:r>
          </a:p>
          <a:p>
            <a:pPr lvl="2"/>
            <a:r>
              <a:t>Nauwkeurige componentwaarden vereist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Belangrijkste Eigenschappen van Klasse E Versterkers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rPr b="1"/>
              <a:t>Moderne Communicatiesystemen:</a:t>
            </a:r>
          </a:p>
          <a:p>
            <a:pPr lvl="2"/>
            <a:r>
              <a:t>GSM/UMTS/LTE zendversterkers</a:t>
            </a:r>
          </a:p>
          <a:p>
            <a:pPr lvl="2"/>
            <a:r>
              <a:t>WiFi en Bluetooth transmitters</a:t>
            </a:r>
          </a:p>
          <a:p>
            <a:pPr lvl="2"/>
            <a:r>
              <a:t>RFID en NFC systemen</a:t>
            </a:r>
          </a:p>
          <a:p>
            <a:pPr lvl="2"/>
            <a:r>
              <a:t>Satellietcommunicatie</a:t>
            </a:r>
          </a:p>
          <a:p>
            <a:pPr lvl="1"/>
            <a:r>
              <a:rPr b="1"/>
              <a:t>Vooruitblik:</a:t>
            </a:r>
          </a:p>
          <a:p>
            <a:pPr lvl="2"/>
            <a:r>
              <a:t>5G millimeter-golf toepassingen</a:t>
            </a:r>
          </a:p>
          <a:p>
            <a:pPr lvl="2"/>
            <a:r>
              <a:t>IoT low-power transmitters</a:t>
            </a:r>
          </a:p>
          <a:p>
            <a:pPr lvl="2"/>
            <a:r>
              <a:t>Draadloze energieoverdracht</a:t>
            </a:r>
          </a:p>
          <a:p>
            <a:pPr lvl="2"/>
            <a:r>
              <a:t>Geïntegreerde on-chip oplossingen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Toepassingsgebieden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